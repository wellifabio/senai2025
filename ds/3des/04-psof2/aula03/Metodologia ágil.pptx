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7" r:id="rId4"/>
  </p:sldMasterIdLst>
  <p:notesMasterIdLst>
    <p:notesMasterId r:id="rId65"/>
  </p:notesMasterIdLst>
  <p:sldIdLst>
    <p:sldId id="278" r:id="rId5"/>
    <p:sldId id="282" r:id="rId6"/>
    <p:sldId id="1351" r:id="rId7"/>
    <p:sldId id="1385" r:id="rId8"/>
    <p:sldId id="1386" r:id="rId9"/>
    <p:sldId id="1387" r:id="rId10"/>
    <p:sldId id="1388" r:id="rId11"/>
    <p:sldId id="1389" r:id="rId12"/>
    <p:sldId id="1390" r:id="rId13"/>
    <p:sldId id="283" r:id="rId14"/>
    <p:sldId id="1279" r:id="rId15"/>
    <p:sldId id="1384" r:id="rId16"/>
    <p:sldId id="286" r:id="rId17"/>
    <p:sldId id="1391" r:id="rId18"/>
    <p:sldId id="1392" r:id="rId19"/>
    <p:sldId id="1393" r:id="rId20"/>
    <p:sldId id="1394" r:id="rId21"/>
    <p:sldId id="1395" r:id="rId22"/>
    <p:sldId id="1396" r:id="rId23"/>
    <p:sldId id="1397" r:id="rId24"/>
    <p:sldId id="1398" r:id="rId25"/>
    <p:sldId id="1399" r:id="rId26"/>
    <p:sldId id="1400" r:id="rId27"/>
    <p:sldId id="1401" r:id="rId28"/>
    <p:sldId id="1402" r:id="rId29"/>
    <p:sldId id="1403" r:id="rId30"/>
    <p:sldId id="1404" r:id="rId31"/>
    <p:sldId id="1409" r:id="rId32"/>
    <p:sldId id="1405" r:id="rId33"/>
    <p:sldId id="1406" r:id="rId34"/>
    <p:sldId id="1407" r:id="rId35"/>
    <p:sldId id="1408" r:id="rId36"/>
    <p:sldId id="1412" r:id="rId37"/>
    <p:sldId id="1410" r:id="rId38"/>
    <p:sldId id="1432" r:id="rId39"/>
    <p:sldId id="1413" r:id="rId40"/>
    <p:sldId id="1414" r:id="rId41"/>
    <p:sldId id="1415" r:id="rId42"/>
    <p:sldId id="1416" r:id="rId43"/>
    <p:sldId id="1417" r:id="rId44"/>
    <p:sldId id="1418" r:id="rId45"/>
    <p:sldId id="1419" r:id="rId46"/>
    <p:sldId id="1420" r:id="rId47"/>
    <p:sldId id="1421" r:id="rId48"/>
    <p:sldId id="1422" r:id="rId49"/>
    <p:sldId id="1423" r:id="rId50"/>
    <p:sldId id="1431" r:id="rId51"/>
    <p:sldId id="1411" r:id="rId52"/>
    <p:sldId id="1424" r:id="rId53"/>
    <p:sldId id="1425" r:id="rId54"/>
    <p:sldId id="1426" r:id="rId55"/>
    <p:sldId id="1427" r:id="rId56"/>
    <p:sldId id="1428" r:id="rId57"/>
    <p:sldId id="1429" r:id="rId58"/>
    <p:sldId id="1430" r:id="rId59"/>
    <p:sldId id="1376" r:id="rId60"/>
    <p:sldId id="1433" r:id="rId61"/>
    <p:sldId id="1434" r:id="rId62"/>
    <p:sldId id="1435" r:id="rId63"/>
    <p:sldId id="1383" r:id="rId64"/>
  </p:sldIdLst>
  <p:sldSz cx="20104100" cy="11309350"/>
  <p:notesSz cx="20104100" cy="11309350"/>
  <p:embeddedFontLst>
    <p:embeddedFont>
      <p:font typeface="游ゴシック" panose="020B0400000000000000" pitchFamily="34" charset="-128"/>
      <p:regular r:id="rId66"/>
      <p:bold r:id="rId67"/>
    </p:embeddedFont>
    <p:embeddedFont>
      <p:font typeface="Montserrat" panose="00000500000000000000" pitchFamily="2" charset="0"/>
      <p:regular r:id="rId68"/>
      <p:bold r:id="rId69"/>
      <p:italic r:id="rId70"/>
      <p:boldItalic r:id="rId71"/>
    </p:embeddedFont>
    <p:embeddedFont>
      <p:font typeface="Montserrat ExtraBold" panose="00000900000000000000" pitchFamily="2" charset="0"/>
      <p:bold r:id="rId72"/>
      <p:boldItalic r:id="rId73"/>
    </p:embeddedFont>
    <p:embeddedFont>
      <p:font typeface="Montserrat Light" panose="00000400000000000000" pitchFamily="2" charset="0"/>
      <p:regular r:id="rId74"/>
      <p:italic r:id="rId75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verton Fernando Souza Ribeiro" initials="WFSR [2]" lastIdx="5" clrIdx="0">
    <p:extLst>
      <p:ext uri="{19B8F6BF-5375-455C-9EA6-DF929625EA0E}">
        <p15:presenceInfo xmlns:p15="http://schemas.microsoft.com/office/powerpoint/2012/main" userId="S::weverton.ribeiro@sp.senai.br::98c758d7-d0b8-461f-a4ce-ab5e52e2556b" providerId="AD"/>
      </p:ext>
    </p:extLst>
  </p:cmAuthor>
  <p:cmAuthor id="2" name="Weverton Fernando Souza Ribeiro" initials="WFSR" lastIdx="21" clrIdx="1">
    <p:extLst>
      <p:ext uri="{19B8F6BF-5375-455C-9EA6-DF929625EA0E}">
        <p15:presenceInfo xmlns:p15="http://schemas.microsoft.com/office/powerpoint/2012/main" userId="S-1-5-21-3467313907-1213806960-2174068774-24985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394" autoAdjust="0"/>
  </p:normalViewPr>
  <p:slideViewPr>
    <p:cSldViewPr>
      <p:cViewPr varScale="1">
        <p:scale>
          <a:sx n="45" d="100"/>
          <a:sy n="45" d="100"/>
        </p:scale>
        <p:origin x="55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slide" Target="slides/slide59.xml"/><Relationship Id="rId68" Type="http://schemas.openxmlformats.org/officeDocument/2006/relationships/font" Target="fonts/font3.fntdata"/><Relationship Id="rId76" Type="http://schemas.openxmlformats.org/officeDocument/2006/relationships/commentAuthors" Target="commentAuthors.xml"/><Relationship Id="rId7" Type="http://schemas.openxmlformats.org/officeDocument/2006/relationships/slide" Target="slides/slide3.xml"/><Relationship Id="rId71" Type="http://schemas.openxmlformats.org/officeDocument/2006/relationships/font" Target="fonts/font6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font" Target="fonts/font1.fntdata"/><Relationship Id="rId74" Type="http://schemas.openxmlformats.org/officeDocument/2006/relationships/font" Target="fonts/font9.fntdata"/><Relationship Id="rId79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notesMaster" Target="notesMasters/notesMaster1.xml"/><Relationship Id="rId73" Type="http://schemas.openxmlformats.org/officeDocument/2006/relationships/font" Target="fonts/font8.fntdata"/><Relationship Id="rId78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font" Target="fonts/font4.fntdata"/><Relationship Id="rId77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font" Target="fonts/font7.fntdata"/><Relationship Id="rId80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font" Target="fonts/font2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font" Target="fonts/font5.fntdata"/><Relationship Id="rId75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511300-05A8-42F5-84F5-2A0388843EF7}" type="datetimeFigureOut">
              <a:rPr lang="pt-BR" smtClean="0"/>
              <a:t>25/02/2025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625586-B76B-45BD-812B-997E365A37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264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World_Economic_Forum" TargetMode="External"/><Relationship Id="rId3" Type="http://schemas.openxmlformats.org/officeDocument/2006/relationships/hyperlink" Target="https://en-m-wikipedia-org.translate.goog/wiki/Sustainable_development?_x_tr_sl=en&amp;_x_tr_tl=pt&amp;_x_tr_hl=pt-BR&amp;_x_tr_pto=sc" TargetMode="External"/><Relationship Id="rId7" Type="http://schemas.openxmlformats.org/officeDocument/2006/relationships/hyperlink" Target="https://en.wikipedia.org/wiki/Economist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Engineer" TargetMode="External"/><Relationship Id="rId5" Type="http://schemas.openxmlformats.org/officeDocument/2006/relationships/hyperlink" Target="https://en.wikipedia.org/wiki/Help:IPA/Standard_German" TargetMode="External"/><Relationship Id="rId4" Type="http://schemas.openxmlformats.org/officeDocument/2006/relationships/hyperlink" Target="https://en-m-wikipedia-org.translate.goog/wiki/Germany?_x_tr_sl=en&amp;_x_tr_tl=pt&amp;_x_tr_hl=pt-BR&amp;_x_tr_pto=sc" TargetMode="Externa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Agradecimentos paroquiais:</a:t>
            </a:r>
          </a:p>
          <a:p>
            <a:pPr marL="171450" indent="-171450">
              <a:buFontTx/>
              <a:buChar char="-"/>
            </a:pPr>
            <a:r>
              <a:rPr lang="pt-BR" dirty="0"/>
              <a:t>Ao publico</a:t>
            </a:r>
          </a:p>
          <a:p>
            <a:pPr marL="171450" indent="-171450">
              <a:buFontTx/>
              <a:buChar char="-"/>
            </a:pPr>
            <a:r>
              <a:rPr lang="pt-BR" dirty="0"/>
              <a:t>A organização da </a:t>
            </a:r>
            <a:r>
              <a:rPr lang="pt-BR" dirty="0" err="1"/>
              <a:t>Fenasucro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2420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985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9EB18-D916-058E-EADA-B6D3EB096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E85CCC1-3AA3-B2D8-B9FF-8D4924C3E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10EC8CE-4C3C-10AB-AC05-D5D96FB6B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32404A-876F-B4CD-9738-58FBA1E87C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4530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C70D5-D78B-2AE9-8D97-551E75B4B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89F964E-AC07-B5D0-53A5-3E49E8167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21D073F-637C-67B3-18F2-9BD68E5CF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DE46CA-E8C4-78B3-6C95-FD0CCE109D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6865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EF6FA-BA70-1369-FF09-F81A4B97A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DC157BA-1826-F2AB-4DAF-6E71AE769F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1C62E8A-199B-85D0-2E55-28106D1BD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DD709C3-A5FD-7656-6888-63D3B11E6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08160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BDC16-50D5-210D-325A-82917B545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BF4468E-9FA7-29E0-ADCE-25065E5E78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314F1AD-7844-E7A3-DB1E-2C67E1A73A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0DC9432-B102-E7F8-9A34-E7447C641C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0822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89ADF-A4F5-6E8F-60FF-2ACF51C91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3926C83-204E-E8A2-3EC7-DA7019E69E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FA7EACD-59CF-DCFD-2CF9-8A7A109734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DCF1819-F792-AEC3-33FE-6E09712699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70067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34312-CD81-FA3A-465A-F32932E26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ACF42FD-1263-FE55-F7BE-E779C3811B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B67B23F-D4D4-6DBB-9307-0C68BA1986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64A921D-BC4B-2007-2F65-69199BD545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14229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2A00D-1552-E7ED-A871-61A3705A9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A43EE98-AC71-63C6-5216-2A7D9B7AB2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9213022-096A-9B0F-3D2C-CE43AA024D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15FD545-B796-9A4C-FFD8-31B8F6C6A5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0110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err="1"/>
              <a:t>Acatech</a:t>
            </a:r>
            <a:r>
              <a:rPr lang="en-US" dirty="0"/>
              <a:t> (</a:t>
            </a:r>
            <a:r>
              <a:rPr lang="en-US" dirty="0" err="1"/>
              <a:t>denominado</a:t>
            </a:r>
            <a:r>
              <a:rPr lang="en-US" dirty="0"/>
              <a:t> </a:t>
            </a:r>
            <a:r>
              <a:rPr lang="en-US" i="1" dirty="0" err="1"/>
              <a:t>acatech</a:t>
            </a:r>
            <a:r>
              <a:rPr lang="en-US" i="1" dirty="0"/>
              <a:t>),</a:t>
            </a:r>
            <a:r>
              <a:rPr lang="en-US" dirty="0"/>
              <a:t> </a:t>
            </a:r>
            <a:r>
              <a:rPr lang="en-US" dirty="0" err="1"/>
              <a:t>fundada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2002 e </a:t>
            </a:r>
            <a:r>
              <a:rPr lang="en-US" dirty="0" err="1"/>
              <a:t>estabelecida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a </a:t>
            </a:r>
            <a:r>
              <a:rPr lang="en-US" b="1" dirty="0"/>
              <a:t>Academia </a:t>
            </a:r>
            <a:r>
              <a:rPr lang="en-US" b="1" dirty="0" err="1"/>
              <a:t>Alemã</a:t>
            </a:r>
            <a:r>
              <a:rPr lang="en-US" b="1" dirty="0"/>
              <a:t> de </a:t>
            </a:r>
            <a:r>
              <a:rPr lang="en-US" b="1" dirty="0" err="1"/>
              <a:t>Ciência</a:t>
            </a:r>
            <a:r>
              <a:rPr lang="en-US" b="1" dirty="0"/>
              <a:t> e </a:t>
            </a:r>
            <a:r>
              <a:rPr lang="en-US" b="1" dirty="0" err="1"/>
              <a:t>Engenharia</a:t>
            </a:r>
            <a:r>
              <a:rPr lang="en-US" b="1" dirty="0"/>
              <a:t>, </a:t>
            </a:r>
            <a:r>
              <a:rPr lang="en-US" dirty="0"/>
              <a:t>A </a:t>
            </a:r>
            <a:r>
              <a:rPr lang="en-US" dirty="0" err="1"/>
              <a:t>acatech</a:t>
            </a:r>
            <a:r>
              <a:rPr lang="en-US" dirty="0"/>
              <a:t> é </a:t>
            </a:r>
            <a:r>
              <a:rPr lang="en-US" dirty="0" err="1"/>
              <a:t>organizada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academia de </a:t>
            </a:r>
            <a:r>
              <a:rPr lang="en-US" dirty="0" err="1"/>
              <a:t>trabalho</a:t>
            </a:r>
            <a:r>
              <a:rPr lang="en-US" dirty="0"/>
              <a:t> que </a:t>
            </a:r>
            <a:r>
              <a:rPr lang="en-US" dirty="0" err="1"/>
              <a:t>assessora</a:t>
            </a:r>
            <a:r>
              <a:rPr lang="en-US" dirty="0"/>
              <a:t> </a:t>
            </a:r>
            <a:r>
              <a:rPr lang="en-US" dirty="0" err="1"/>
              <a:t>políticos</a:t>
            </a:r>
            <a:r>
              <a:rPr lang="en-US" dirty="0"/>
              <a:t> e o </a:t>
            </a:r>
            <a:r>
              <a:rPr lang="en-US" dirty="0" err="1"/>
              <a:t>público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questões</a:t>
            </a:r>
            <a:r>
              <a:rPr lang="en-US" dirty="0"/>
              <a:t> </a:t>
            </a:r>
            <a:r>
              <a:rPr lang="en-US" dirty="0" err="1"/>
              <a:t>futuras</a:t>
            </a:r>
            <a:r>
              <a:rPr lang="en-US" dirty="0"/>
              <a:t> </a:t>
            </a:r>
            <a:r>
              <a:rPr lang="en-US" dirty="0" err="1"/>
              <a:t>relacionadas</a:t>
            </a:r>
            <a:r>
              <a:rPr lang="en-US" dirty="0"/>
              <a:t> </a:t>
            </a:r>
            <a:r>
              <a:rPr lang="en-US" dirty="0" err="1"/>
              <a:t>às</a:t>
            </a:r>
            <a:r>
              <a:rPr lang="en-US" dirty="0"/>
              <a:t> </a:t>
            </a:r>
            <a:r>
              <a:rPr lang="en-US" dirty="0" err="1"/>
              <a:t>ciências</a:t>
            </a:r>
            <a:r>
              <a:rPr lang="en-US" dirty="0"/>
              <a:t> </a:t>
            </a:r>
            <a:r>
              <a:rPr lang="en-US" dirty="0" err="1"/>
              <a:t>técnicas</a:t>
            </a:r>
            <a:r>
              <a:rPr lang="en-US" dirty="0"/>
              <a:t> e </a:t>
            </a:r>
            <a:r>
              <a:rPr lang="en-US" dirty="0" err="1"/>
              <a:t>políticas</a:t>
            </a:r>
            <a:r>
              <a:rPr lang="en-US" dirty="0"/>
              <a:t> de </a:t>
            </a:r>
            <a:r>
              <a:rPr lang="en-US" dirty="0" err="1"/>
              <a:t>tecnologia</a:t>
            </a:r>
            <a:r>
              <a:rPr lang="en-US" dirty="0"/>
              <a:t>. A academia se </a:t>
            </a:r>
            <a:r>
              <a:rPr lang="en-US" dirty="0" err="1"/>
              <a:t>vê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instituição</a:t>
            </a:r>
            <a:r>
              <a:rPr lang="en-US" dirty="0"/>
              <a:t> que </a:t>
            </a:r>
            <a:r>
              <a:rPr lang="en-US" dirty="0" err="1"/>
              <a:t>fornece</a:t>
            </a:r>
            <a:r>
              <a:rPr lang="en-US" dirty="0"/>
              <a:t> </a:t>
            </a:r>
            <a:r>
              <a:rPr lang="en-US" dirty="0" err="1"/>
              <a:t>avaliações</a:t>
            </a:r>
            <a:r>
              <a:rPr lang="en-US" dirty="0"/>
              <a:t> </a:t>
            </a:r>
            <a:r>
              <a:rPr lang="en-US" dirty="0" err="1"/>
              <a:t>neutras</a:t>
            </a:r>
            <a:r>
              <a:rPr lang="en-US" dirty="0"/>
              <a:t>, </a:t>
            </a:r>
            <a:r>
              <a:rPr lang="en-US" dirty="0" err="1"/>
              <a:t>baseadas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fatos</a:t>
            </a:r>
            <a:r>
              <a:rPr lang="en-US" dirty="0"/>
              <a:t> </a:t>
            </a:r>
            <a:r>
              <a:rPr lang="en-US" dirty="0" err="1"/>
              <a:t>científicos</a:t>
            </a:r>
            <a:r>
              <a:rPr lang="en-US" dirty="0"/>
              <a:t> de </a:t>
            </a:r>
            <a:r>
              <a:rPr lang="en-US" dirty="0" err="1"/>
              <a:t>questões</a:t>
            </a:r>
            <a:r>
              <a:rPr lang="en-US" dirty="0"/>
              <a:t> </a:t>
            </a:r>
            <a:r>
              <a:rPr lang="en-US" dirty="0" err="1"/>
              <a:t>relacionadas</a:t>
            </a:r>
            <a:r>
              <a:rPr lang="en-US" dirty="0"/>
              <a:t> à </a:t>
            </a:r>
            <a:r>
              <a:rPr lang="en-US" dirty="0" err="1"/>
              <a:t>tecnologia</a:t>
            </a:r>
            <a:r>
              <a:rPr lang="en-US" dirty="0"/>
              <a:t> e </a:t>
            </a:r>
            <a:r>
              <a:rPr lang="en-US" dirty="0" err="1"/>
              <a:t>atende</a:t>
            </a:r>
            <a:r>
              <a:rPr lang="en-US" dirty="0"/>
              <a:t> à </a:t>
            </a:r>
            <a:r>
              <a:rPr lang="en-US" dirty="0" err="1"/>
              <a:t>sociedade</a:t>
            </a:r>
            <a:r>
              <a:rPr lang="en-US" dirty="0"/>
              <a:t> com </a:t>
            </a:r>
            <a:r>
              <a:rPr lang="en-US" dirty="0" err="1"/>
              <a:t>recomendações</a:t>
            </a:r>
            <a:r>
              <a:rPr lang="en-US" dirty="0"/>
              <a:t> </a:t>
            </a:r>
            <a:r>
              <a:rPr lang="en-US" dirty="0" err="1"/>
              <a:t>perspicazes</a:t>
            </a:r>
            <a:r>
              <a:rPr lang="en-US" dirty="0"/>
              <a:t> de </a:t>
            </a:r>
            <a:r>
              <a:rPr lang="en-US" dirty="0" err="1"/>
              <a:t>excelente</a:t>
            </a:r>
            <a:r>
              <a:rPr lang="en-US" dirty="0"/>
              <a:t> </a:t>
            </a:r>
            <a:r>
              <a:rPr lang="en-US" dirty="0" err="1"/>
              <a:t>qualidade</a:t>
            </a:r>
            <a:r>
              <a:rPr lang="en-US" dirty="0"/>
              <a:t>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0" i="0" dirty="0">
                <a:solidFill>
                  <a:srgbClr val="202122"/>
                </a:solidFill>
                <a:effectLst/>
                <a:latin typeface="-apple-system"/>
              </a:rPr>
              <a:t>A forma de atuação da </a:t>
            </a:r>
            <a:r>
              <a:rPr lang="pt-BR" b="0" i="0" dirty="0" err="1">
                <a:solidFill>
                  <a:srgbClr val="202122"/>
                </a:solidFill>
                <a:effectLst/>
                <a:latin typeface="-apple-system"/>
              </a:rPr>
              <a:t>acatech</a:t>
            </a:r>
            <a:r>
              <a:rPr lang="pt-BR" b="0" i="0" dirty="0">
                <a:solidFill>
                  <a:srgbClr val="202122"/>
                </a:solidFill>
                <a:effectLst/>
                <a:latin typeface="-apple-system"/>
              </a:rPr>
              <a:t> é caracterizada pela estreita articulação entre ciência e negócios. O objetivo primordial do trabalho da </a:t>
            </a:r>
            <a:r>
              <a:rPr lang="pt-BR" b="0" i="0" dirty="0" err="1">
                <a:solidFill>
                  <a:srgbClr val="202122"/>
                </a:solidFill>
                <a:effectLst/>
                <a:latin typeface="-apple-system"/>
              </a:rPr>
              <a:t>acatech</a:t>
            </a:r>
            <a:r>
              <a:rPr lang="pt-BR" b="0" i="0" dirty="0">
                <a:solidFill>
                  <a:srgbClr val="202122"/>
                </a:solidFill>
                <a:effectLst/>
                <a:latin typeface="-apple-system"/>
              </a:rPr>
              <a:t> é promover o </a:t>
            </a:r>
            <a:r>
              <a:rPr lang="pt-BR" b="0" i="0" u="none" strike="noStrike" dirty="0">
                <a:solidFill>
                  <a:srgbClr val="3366CC"/>
                </a:solidFill>
                <a:effectLst/>
                <a:latin typeface="-apple-system"/>
                <a:hlinkClick r:id="rId3" tooltip="Desenvolvimento sustentável"/>
              </a:rPr>
              <a:t>crescimento sustentável</a:t>
            </a:r>
            <a:r>
              <a:rPr lang="pt-BR" b="0" i="0" dirty="0">
                <a:solidFill>
                  <a:srgbClr val="202122"/>
                </a:solidFill>
                <a:effectLst/>
                <a:latin typeface="-apple-system"/>
              </a:rPr>
              <a:t> por meio de mais inovação na </a:t>
            </a:r>
            <a:r>
              <a:rPr lang="pt-BR" b="0" i="0" u="none" strike="noStrike" dirty="0">
                <a:solidFill>
                  <a:srgbClr val="3366CC"/>
                </a:solidFill>
                <a:effectLst/>
                <a:latin typeface="-apple-system"/>
                <a:hlinkClick r:id="rId4" tooltip="Alemanha"/>
              </a:rPr>
              <a:t>Alemanha</a:t>
            </a:r>
            <a:r>
              <a:rPr lang="pt-BR" b="0" i="0" dirty="0">
                <a:solidFill>
                  <a:srgbClr val="202122"/>
                </a:solidFill>
                <a:effectLst/>
                <a:latin typeface="-apple-system"/>
              </a:rPr>
              <a:t> . Isto implica a avaliação das potencialidades, oportunidades e riscos de novos desenvolvimentos técnicos.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VDMA: A </a:t>
            </a:r>
            <a:r>
              <a:rPr lang="en-US" b="1" dirty="0" err="1"/>
              <a:t>Associação</a:t>
            </a:r>
            <a:r>
              <a:rPr lang="en-US" b="1" dirty="0"/>
              <a:t> </a:t>
            </a:r>
            <a:r>
              <a:rPr lang="en-US" b="1" dirty="0" err="1"/>
              <a:t>Alemã</a:t>
            </a:r>
            <a:r>
              <a:rPr lang="en-US" b="1" dirty="0"/>
              <a:t> de </a:t>
            </a:r>
            <a:r>
              <a:rPr lang="en-US" b="1" dirty="0" err="1"/>
              <a:t>Fabricantes</a:t>
            </a:r>
            <a:r>
              <a:rPr lang="en-US" b="1" dirty="0"/>
              <a:t> de </a:t>
            </a:r>
            <a:r>
              <a:rPr lang="en-US" b="1" dirty="0" err="1"/>
              <a:t>Máquinas</a:t>
            </a:r>
            <a:r>
              <a:rPr lang="en-US" b="1" dirty="0"/>
              <a:t> e </a:t>
            </a:r>
            <a:r>
              <a:rPr lang="en-US" b="1" dirty="0" err="1"/>
              <a:t>Instalações</a:t>
            </a:r>
            <a:r>
              <a:rPr lang="en-US" b="1" dirty="0"/>
              <a:t> </a:t>
            </a:r>
            <a:r>
              <a:rPr lang="en-US" b="1" dirty="0" err="1"/>
              <a:t>Industriais</a:t>
            </a:r>
            <a:r>
              <a:rPr lang="en-US" dirty="0"/>
              <a:t> (</a:t>
            </a:r>
            <a:r>
              <a:rPr lang="en-US" b="1" dirty="0" err="1"/>
              <a:t>Verband</a:t>
            </a:r>
            <a:r>
              <a:rPr lang="en-US" b="1" dirty="0"/>
              <a:t> </a:t>
            </a:r>
            <a:r>
              <a:rPr lang="en-US" b="1" dirty="0" err="1"/>
              <a:t>Deutscher</a:t>
            </a:r>
            <a:r>
              <a:rPr lang="en-US" b="1" dirty="0"/>
              <a:t> </a:t>
            </a:r>
            <a:r>
              <a:rPr lang="en-US" b="1" dirty="0" err="1"/>
              <a:t>Maschinen</a:t>
            </a:r>
            <a:r>
              <a:rPr lang="en-US" b="1" dirty="0"/>
              <a:t> - und </a:t>
            </a:r>
            <a:r>
              <a:rPr lang="en-US" b="1" dirty="0" err="1"/>
              <a:t>Anlagenbau</a:t>
            </a:r>
            <a:r>
              <a:rPr lang="en-US" b="1" dirty="0"/>
              <a:t> </a:t>
            </a:r>
            <a:r>
              <a:rPr lang="en-US" b="1" dirty="0" err="1"/>
              <a:t>e.V</a:t>
            </a:r>
            <a:r>
              <a:rPr lang="en-US" b="1" dirty="0"/>
              <a:t> VDMA)</a:t>
            </a:r>
            <a:r>
              <a:rPr lang="en-US" dirty="0"/>
              <a:t>, </a:t>
            </a:r>
            <a:r>
              <a:rPr lang="en-US" dirty="0" err="1"/>
              <a:t>nascida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1892, com </a:t>
            </a:r>
            <a:r>
              <a:rPr lang="en-US" dirty="0" err="1"/>
              <a:t>sede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Frankfurt am Main, </a:t>
            </a:r>
            <a:r>
              <a:rPr lang="en-US" dirty="0" err="1"/>
              <a:t>reúne</a:t>
            </a:r>
            <a:r>
              <a:rPr lang="en-US" dirty="0"/>
              <a:t> 3.300 </a:t>
            </a:r>
            <a:r>
              <a:rPr lang="en-US" dirty="0" err="1"/>
              <a:t>empresas</a:t>
            </a:r>
            <a:r>
              <a:rPr lang="en-US" dirty="0"/>
              <a:t> </a:t>
            </a:r>
            <a:r>
              <a:rPr lang="en-US" dirty="0" err="1"/>
              <a:t>associadas</a:t>
            </a:r>
            <a:r>
              <a:rPr lang="en-US" dirty="0"/>
              <a:t>, o que </a:t>
            </a:r>
            <a:r>
              <a:rPr lang="en-US" dirty="0" err="1"/>
              <a:t>lhe</a:t>
            </a:r>
            <a:r>
              <a:rPr lang="en-US" dirty="0"/>
              <a:t> </a:t>
            </a:r>
            <a:r>
              <a:rPr lang="en-US" dirty="0" err="1"/>
              <a:t>confere</a:t>
            </a:r>
            <a:r>
              <a:rPr lang="en-US" dirty="0"/>
              <a:t> a </a:t>
            </a:r>
            <a:r>
              <a:rPr lang="en-US" dirty="0" err="1"/>
              <a:t>posição</a:t>
            </a:r>
            <a:r>
              <a:rPr lang="en-US" dirty="0"/>
              <a:t> de </a:t>
            </a:r>
            <a:r>
              <a:rPr lang="en-US" dirty="0" err="1"/>
              <a:t>maior</a:t>
            </a:r>
            <a:r>
              <a:rPr lang="en-US" dirty="0"/>
              <a:t> </a:t>
            </a:r>
            <a:r>
              <a:rPr lang="en-US" dirty="0" err="1"/>
              <a:t>associação</a:t>
            </a:r>
            <a:r>
              <a:rPr lang="en-US" dirty="0"/>
              <a:t> industrial da Europa. A VDMA se </a:t>
            </a:r>
            <a:r>
              <a:rPr lang="en-US" dirty="0" err="1"/>
              <a:t>vê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plataforma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qual </a:t>
            </a:r>
            <a:r>
              <a:rPr lang="en-US" dirty="0" err="1"/>
              <a:t>suas</a:t>
            </a:r>
            <a:r>
              <a:rPr lang="en-US" dirty="0"/>
              <a:t> </a:t>
            </a:r>
            <a:r>
              <a:rPr lang="en-US" dirty="0" err="1"/>
              <a:t>empresas</a:t>
            </a:r>
            <a:r>
              <a:rPr lang="en-US" dirty="0"/>
              <a:t> </a:t>
            </a:r>
            <a:r>
              <a:rPr lang="en-US" dirty="0" err="1"/>
              <a:t>membros</a:t>
            </a:r>
            <a:r>
              <a:rPr lang="en-US" dirty="0"/>
              <a:t> </a:t>
            </a:r>
            <a:r>
              <a:rPr lang="en-US" dirty="0" err="1"/>
              <a:t>podem</a:t>
            </a:r>
            <a:r>
              <a:rPr lang="en-US" dirty="0"/>
              <a:t> trocar </a:t>
            </a:r>
            <a:r>
              <a:rPr lang="en-US" dirty="0" err="1"/>
              <a:t>informações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desafios</a:t>
            </a:r>
            <a:r>
              <a:rPr lang="en-US" dirty="0"/>
              <a:t> </a:t>
            </a:r>
            <a:r>
              <a:rPr lang="en-US" dirty="0" err="1"/>
              <a:t>técnicos</a:t>
            </a:r>
            <a:r>
              <a:rPr lang="en-US" dirty="0"/>
              <a:t>, </a:t>
            </a:r>
            <a:r>
              <a:rPr lang="en-US" dirty="0" err="1"/>
              <a:t>questões</a:t>
            </a:r>
            <a:r>
              <a:rPr lang="en-US" dirty="0"/>
              <a:t> </a:t>
            </a:r>
            <a:r>
              <a:rPr lang="en-US" dirty="0" err="1"/>
              <a:t>interdisciplinares</a:t>
            </a:r>
            <a:r>
              <a:rPr lang="en-US" dirty="0"/>
              <a:t> e </a:t>
            </a:r>
            <a:r>
              <a:rPr lang="en-US" dirty="0" err="1"/>
              <a:t>muitos</a:t>
            </a:r>
            <a:r>
              <a:rPr lang="en-US" dirty="0"/>
              <a:t> outros </a:t>
            </a:r>
            <a:r>
              <a:rPr lang="en-US" dirty="0" err="1"/>
              <a:t>tópicos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numerosas</a:t>
            </a:r>
            <a:r>
              <a:rPr lang="en-US" dirty="0"/>
              <a:t> redes.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cs typeface="Calibri"/>
              </a:rPr>
              <a:t>Klaus Schwab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Klaus Martin </a:t>
            </a:r>
            <a:r>
              <a:rPr lang="pt-BR" b="1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Schwab</a:t>
            </a:r>
            <a:r>
              <a:rPr lang="pt-B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( </a:t>
            </a:r>
            <a:r>
              <a:rPr lang="pt-BR" dirty="0">
                <a:effectLst/>
              </a:rPr>
              <a:t>pronúncia alemã: </a:t>
            </a:r>
            <a:r>
              <a:rPr lang="pt-BR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5" tooltip="Ajuda: IPA/Alemão padrão"/>
              </a:rPr>
              <a:t>[</a:t>
            </a:r>
            <a:r>
              <a:rPr lang="pt-BR" b="0" i="0" u="none" strike="noStrike" dirty="0" err="1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5" tooltip="Ajuda: IPA/Alemão padrão"/>
              </a:rPr>
              <a:t>klaʊs</a:t>
            </a:r>
            <a:r>
              <a:rPr lang="pt-BR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5" tooltip="Ajuda: IPA/Alemão padrão"/>
              </a:rPr>
              <a:t> ˈ</a:t>
            </a:r>
            <a:r>
              <a:rPr lang="pt-BR" b="0" i="0" u="none" strike="noStrike" dirty="0" err="1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5" tooltip="Ajuda: IPA/Alemão padrão"/>
              </a:rPr>
              <a:t>maʁtiːn</a:t>
            </a:r>
            <a:r>
              <a:rPr lang="pt-BR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5" tooltip="Ajuda: IPA/Alemão padrão"/>
              </a:rPr>
              <a:t> </a:t>
            </a:r>
            <a:r>
              <a:rPr lang="pt-BR" b="0" i="0" u="none" strike="noStrike" dirty="0" err="1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5" tooltip="Ajuda: IPA/Alemão padrão"/>
              </a:rPr>
              <a:t>ʃvaːp</a:t>
            </a:r>
            <a:r>
              <a:rPr lang="pt-BR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5" tooltip="Ajuda: IPA/Alemão padrão"/>
              </a:rPr>
              <a:t>]</a:t>
            </a:r>
            <a:r>
              <a:rPr lang="pt-B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; nascido em 30 de março de 1938) é um </a:t>
            </a:r>
            <a:r>
              <a:rPr lang="pt-BR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6" tooltip="Engenheiro"/>
              </a:rPr>
              <a:t>engenheiro</a:t>
            </a:r>
            <a:r>
              <a:rPr lang="pt-B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, </a:t>
            </a:r>
            <a:r>
              <a:rPr lang="pt-BR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7" tooltip="Economista"/>
              </a:rPr>
              <a:t>economista</a:t>
            </a:r>
            <a:r>
              <a:rPr lang="pt-B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e fundador alemão </a:t>
            </a:r>
            <a:r>
              <a:rPr lang="pt-BR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8" tooltip="Fórum Econômico Mundial"/>
              </a:rPr>
              <a:t>do Fórum Econômico Mundial (WEF)</a:t>
            </a:r>
            <a:r>
              <a:rPr lang="pt-B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. Ele atuou como presidente do WEF desde a fundação da organização em 1971</a:t>
            </a:r>
            <a:endParaRPr lang="en-US" dirty="0"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  <a:p>
            <a:r>
              <a:rPr lang="en-US" dirty="0"/>
              <a:t>Kai-Fu Lee ( </a:t>
            </a:r>
            <a:r>
              <a:rPr lang="en-US" dirty="0" err="1"/>
              <a:t>chinês</a:t>
            </a:r>
            <a:r>
              <a:rPr lang="en-US" dirty="0"/>
              <a:t> </a:t>
            </a:r>
            <a:r>
              <a:rPr lang="en-US" dirty="0" err="1"/>
              <a:t>tradicional</a:t>
            </a:r>
            <a:r>
              <a:rPr lang="en-US" dirty="0"/>
              <a:t> :</a:t>
            </a:r>
            <a:r>
              <a:rPr lang="ja-JP" altLang="en-US" dirty="0">
                <a:ea typeface="游ゴシック"/>
              </a:rPr>
              <a:t>李</a:t>
            </a:r>
            <a:r>
              <a:rPr lang="en-US" altLang="ja-JP" dirty="0">
                <a:ea typeface="游ゴシック"/>
              </a:rPr>
              <a:t> </a:t>
            </a:r>
            <a:r>
              <a:rPr lang="ja-JP" altLang="en-US" dirty="0">
                <a:ea typeface="游ゴシック"/>
              </a:rPr>
              <a:t>開</a:t>
            </a:r>
            <a:r>
              <a:rPr lang="en-US" altLang="ja-JP" dirty="0">
                <a:ea typeface="游ゴシック"/>
              </a:rPr>
              <a:t> </a:t>
            </a:r>
            <a:r>
              <a:rPr lang="ja-JP" altLang="en-US" dirty="0">
                <a:ea typeface="游ゴシック"/>
              </a:rPr>
              <a:t>復</a:t>
            </a:r>
            <a:r>
              <a:rPr lang="en-US" dirty="0"/>
              <a:t>; </a:t>
            </a:r>
            <a:r>
              <a:rPr lang="en-US" dirty="0" err="1"/>
              <a:t>chinês</a:t>
            </a:r>
            <a:r>
              <a:rPr lang="en-US" dirty="0"/>
              <a:t> </a:t>
            </a:r>
            <a:r>
              <a:rPr lang="en-US" dirty="0" err="1"/>
              <a:t>simplificado</a:t>
            </a:r>
            <a:r>
              <a:rPr lang="en-US" dirty="0"/>
              <a:t> :</a:t>
            </a:r>
            <a:r>
              <a:rPr lang="ja-JP" altLang="en-US" dirty="0">
                <a:ea typeface="游ゴシック"/>
              </a:rPr>
              <a:t>李</a:t>
            </a:r>
            <a:r>
              <a:rPr lang="en-US" altLang="ja-JP" dirty="0">
                <a:ea typeface="游ゴシック"/>
              </a:rPr>
              <a:t> </a:t>
            </a:r>
            <a:r>
              <a:rPr lang="ja-JP" altLang="en-US" dirty="0">
                <a:ea typeface="游ゴシック"/>
              </a:rPr>
              <a:t>开</a:t>
            </a:r>
            <a:r>
              <a:rPr lang="en-US" altLang="ja-JP" dirty="0">
                <a:ea typeface="游ゴシック"/>
              </a:rPr>
              <a:t> </a:t>
            </a:r>
            <a:r>
              <a:rPr lang="ja-JP" altLang="en-US" dirty="0">
                <a:ea typeface="游ゴシック"/>
              </a:rPr>
              <a:t>复</a:t>
            </a:r>
            <a:r>
              <a:rPr lang="en-US" dirty="0"/>
              <a:t>; pinyin : </a:t>
            </a:r>
            <a:r>
              <a:rPr lang="en-US" dirty="0" err="1"/>
              <a:t>Lǐ</a:t>
            </a:r>
            <a:r>
              <a:rPr lang="en-US" dirty="0"/>
              <a:t> </a:t>
            </a:r>
            <a:r>
              <a:rPr lang="en-US" dirty="0" err="1"/>
              <a:t>Kāifù</a:t>
            </a:r>
            <a:r>
              <a:rPr lang="en-US" dirty="0"/>
              <a:t> ; </a:t>
            </a:r>
            <a:r>
              <a:rPr lang="en-US" dirty="0" err="1"/>
              <a:t>nascido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3 de </a:t>
            </a:r>
            <a:r>
              <a:rPr lang="en-US" dirty="0" err="1"/>
              <a:t>dezembro</a:t>
            </a:r>
            <a:r>
              <a:rPr lang="en-US" dirty="0"/>
              <a:t> de 1961) é um </a:t>
            </a:r>
            <a:r>
              <a:rPr lang="en-US" dirty="0" err="1"/>
              <a:t>cientista</a:t>
            </a:r>
            <a:r>
              <a:rPr lang="en-US" dirty="0"/>
              <a:t> da </a:t>
            </a:r>
            <a:r>
              <a:rPr lang="en-US" dirty="0" err="1"/>
              <a:t>computação</a:t>
            </a:r>
            <a:r>
              <a:rPr lang="en-US" dirty="0"/>
              <a:t>, </a:t>
            </a:r>
            <a:r>
              <a:rPr lang="en-US" dirty="0" err="1"/>
              <a:t>empresário</a:t>
            </a:r>
            <a:r>
              <a:rPr lang="en-US" dirty="0"/>
              <a:t> e </a:t>
            </a:r>
            <a:r>
              <a:rPr lang="en-US" dirty="0" err="1"/>
              <a:t>escritor</a:t>
            </a:r>
            <a:r>
              <a:rPr lang="en-US" dirty="0"/>
              <a:t> </a:t>
            </a:r>
            <a:r>
              <a:rPr lang="en-US" dirty="0" err="1"/>
              <a:t>taiwanês</a:t>
            </a:r>
            <a:r>
              <a:rPr lang="en-US" dirty="0"/>
              <a:t> . Ele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atualmente</a:t>
            </a:r>
            <a:r>
              <a:rPr lang="en-US" dirty="0"/>
              <a:t> </a:t>
            </a:r>
            <a:r>
              <a:rPr lang="en-US" dirty="0" err="1"/>
              <a:t>baseado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Pequim</a:t>
            </a:r>
            <a:r>
              <a:rPr lang="en-US" dirty="0"/>
              <a:t> , China .</a:t>
            </a:r>
            <a:endParaRPr lang="pt-BR" dirty="0"/>
          </a:p>
          <a:p>
            <a:r>
              <a:rPr lang="en-US" dirty="0"/>
              <a:t> Lee </a:t>
            </a:r>
            <a:r>
              <a:rPr lang="en-US" dirty="0" err="1"/>
              <a:t>desenvolveu</a:t>
            </a:r>
            <a:r>
              <a:rPr lang="en-US" dirty="0"/>
              <a:t> um </a:t>
            </a:r>
            <a:r>
              <a:rPr lang="en-US" dirty="0" err="1"/>
              <a:t>sistema</a:t>
            </a:r>
            <a:r>
              <a:rPr lang="en-US" dirty="0"/>
              <a:t> de </a:t>
            </a:r>
            <a:r>
              <a:rPr lang="en-US" dirty="0" err="1"/>
              <a:t>reconhecimento</a:t>
            </a:r>
            <a:r>
              <a:rPr lang="en-US" dirty="0"/>
              <a:t> de </a:t>
            </a:r>
            <a:r>
              <a:rPr lang="en-US" dirty="0" err="1"/>
              <a:t>fala</a:t>
            </a:r>
            <a:r>
              <a:rPr lang="en-US" dirty="0"/>
              <a:t> </a:t>
            </a:r>
            <a:r>
              <a:rPr lang="en-US" dirty="0" err="1"/>
              <a:t>contínuo</a:t>
            </a:r>
            <a:r>
              <a:rPr lang="en-US" dirty="0"/>
              <a:t> </a:t>
            </a:r>
            <a:r>
              <a:rPr lang="en-US" dirty="0" err="1"/>
              <a:t>independente</a:t>
            </a:r>
            <a:r>
              <a:rPr lang="en-US" dirty="0"/>
              <a:t> do locutor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seu</a:t>
            </a:r>
            <a:r>
              <a:rPr lang="en-US" dirty="0"/>
              <a:t> Ph.D. </a:t>
            </a:r>
            <a:r>
              <a:rPr lang="en-US" dirty="0" err="1"/>
              <a:t>tese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Carnegie Mellon University . Mais </a:t>
            </a:r>
            <a:r>
              <a:rPr lang="en-US" dirty="0" err="1"/>
              <a:t>tarde</a:t>
            </a:r>
            <a:r>
              <a:rPr lang="en-US" dirty="0"/>
              <a:t>,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trabalhou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executivo</a:t>
            </a:r>
            <a:r>
              <a:rPr lang="en-US" dirty="0"/>
              <a:t>, </a:t>
            </a:r>
            <a:r>
              <a:rPr lang="en-US" dirty="0" err="1"/>
              <a:t>primeiro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Apple , </a:t>
            </a:r>
            <a:r>
              <a:rPr lang="en-US" dirty="0" err="1"/>
              <a:t>depois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SGI , Microsoft e Google .</a:t>
            </a:r>
            <a:endParaRPr lang="en-US" dirty="0">
              <a:cs typeface="Calibri"/>
            </a:endParaRPr>
          </a:p>
          <a:p>
            <a:r>
              <a:rPr lang="en-US" dirty="0"/>
              <a:t> Ele se </a:t>
            </a:r>
            <a:r>
              <a:rPr lang="en-US" dirty="0" err="1"/>
              <a:t>tornou</a:t>
            </a:r>
            <a:r>
              <a:rPr lang="en-US" dirty="0"/>
              <a:t> o </a:t>
            </a:r>
            <a:r>
              <a:rPr lang="en-US" dirty="0" err="1"/>
              <a:t>foco</a:t>
            </a:r>
            <a:r>
              <a:rPr lang="en-US" dirty="0"/>
              <a:t> de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disputa</a:t>
            </a:r>
            <a:r>
              <a:rPr lang="en-US" dirty="0"/>
              <a:t> legal </a:t>
            </a:r>
            <a:r>
              <a:rPr lang="en-US" dirty="0" err="1"/>
              <a:t>em</a:t>
            </a:r>
            <a:r>
              <a:rPr lang="en-US" dirty="0"/>
              <a:t> 2005 entre o Google e a Microsoft , </a:t>
            </a:r>
            <a:r>
              <a:rPr lang="en-US" dirty="0" err="1"/>
              <a:t>seu</a:t>
            </a:r>
            <a:r>
              <a:rPr lang="en-US" dirty="0"/>
              <a:t> </a:t>
            </a:r>
            <a:r>
              <a:rPr lang="en-US" dirty="0" err="1"/>
              <a:t>antigo</a:t>
            </a:r>
            <a:r>
              <a:rPr lang="en-US" dirty="0"/>
              <a:t> </a:t>
            </a:r>
            <a:r>
              <a:rPr lang="en-US" dirty="0" err="1"/>
              <a:t>empregador</a:t>
            </a:r>
            <a:r>
              <a:rPr lang="en-US" dirty="0"/>
              <a:t>, </a:t>
            </a:r>
            <a:r>
              <a:rPr lang="en-US" dirty="0" err="1"/>
              <a:t>devido</a:t>
            </a:r>
            <a:r>
              <a:rPr lang="en-US" dirty="0"/>
              <a:t> a um </a:t>
            </a:r>
            <a:r>
              <a:rPr lang="en-US" dirty="0" err="1"/>
              <a:t>contrato</a:t>
            </a:r>
            <a:r>
              <a:rPr lang="en-US" dirty="0"/>
              <a:t> de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concorrência</a:t>
            </a:r>
            <a:r>
              <a:rPr lang="en-US" dirty="0"/>
              <a:t> de um </a:t>
            </a:r>
            <a:r>
              <a:rPr lang="en-US" dirty="0" err="1"/>
              <a:t>ano</a:t>
            </a:r>
            <a:r>
              <a:rPr lang="en-US" dirty="0"/>
              <a:t> que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assinou</a:t>
            </a:r>
            <a:r>
              <a:rPr lang="en-US" dirty="0"/>
              <a:t> com a Microsoft </a:t>
            </a:r>
            <a:r>
              <a:rPr lang="en-US" dirty="0" err="1"/>
              <a:t>em</a:t>
            </a:r>
            <a:r>
              <a:rPr lang="en-US" dirty="0"/>
              <a:t> 2000, </a:t>
            </a:r>
            <a:r>
              <a:rPr lang="en-US" dirty="0" err="1"/>
              <a:t>quando</a:t>
            </a:r>
            <a:r>
              <a:rPr lang="en-US" dirty="0"/>
              <a:t> se </a:t>
            </a:r>
            <a:r>
              <a:rPr lang="en-US" dirty="0" err="1"/>
              <a:t>tornou</a:t>
            </a:r>
            <a:r>
              <a:rPr lang="en-US" dirty="0"/>
              <a:t> </a:t>
            </a:r>
            <a:r>
              <a:rPr lang="en-US" dirty="0" err="1"/>
              <a:t>seu</a:t>
            </a:r>
            <a:r>
              <a:rPr lang="en-US" dirty="0"/>
              <a:t> vice-</a:t>
            </a:r>
            <a:r>
              <a:rPr lang="en-US" dirty="0" err="1"/>
              <a:t>presidente</a:t>
            </a:r>
            <a:r>
              <a:rPr lang="en-US" dirty="0"/>
              <a:t> </a:t>
            </a:r>
            <a:r>
              <a:rPr lang="en-US" dirty="0" err="1"/>
              <a:t>corporativo</a:t>
            </a:r>
            <a:r>
              <a:rPr lang="en-US" dirty="0"/>
              <a:t> de </a:t>
            </a:r>
            <a:r>
              <a:rPr lang="en-US" dirty="0" err="1"/>
              <a:t>serviços</a:t>
            </a:r>
            <a:r>
              <a:rPr lang="en-US" dirty="0"/>
              <a:t> </a:t>
            </a:r>
            <a:r>
              <a:rPr lang="en-US" dirty="0" err="1"/>
              <a:t>interativos</a:t>
            </a:r>
            <a:r>
              <a:rPr lang="en-US" dirty="0"/>
              <a:t>. [1]</a:t>
            </a:r>
            <a:endParaRPr lang="en-US" dirty="0">
              <a:cs typeface="Calibri"/>
            </a:endParaRPr>
          </a:p>
          <a:p>
            <a:endParaRPr lang="en-US" dirty="0"/>
          </a:p>
          <a:p>
            <a:endParaRPr lang="en-US" dirty="0">
              <a:cs typeface="Calibri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25068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69748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7BA80-1801-CA9C-9C0B-427F8CCFB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DDD4AF9-3BA0-F6DE-E802-E70034766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399E3F3-34BB-1A6E-1FA0-EF667290C6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18D9685-8D4A-05F4-6E9D-B89928FF93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37462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3560B-24C6-AC76-28EE-507F83636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213E334-67F6-A5E1-7866-0014D0875B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BCDE56E-3C08-B7AA-FE9B-0F48FF294E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3A948AB-710F-1B3E-0CFF-B47473A58C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31265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2CA4F-393C-FE01-2C12-91A356957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2DC600D-B942-5187-5ECE-CC2E7A0403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96D95CB-8E99-DAA1-84DC-BD69E67E1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861CA2B-DFA7-88FD-1B18-FE57E27C9D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92708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0D0CE-C6B6-CEC6-99CB-9263B6141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B50C5FD-3EBB-6055-E9A4-B4BB0A739D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64A5116-71D6-31F1-DC26-8E74FBD3A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7C42B93-38BF-582B-E887-9FFB373A46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0170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A5FF4-D798-A26E-0DED-B6C21673F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0950902-9D33-897D-F108-7C591F7DE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DF8CE91-D8D4-3479-7376-674A8792A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4F669A5-73B6-EEFE-DD79-8D39C3EB84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18409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811DE-04AD-E227-BCFA-AA9675F57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A43B3D5-166C-D7E8-DD97-52502F9BA9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65D6550-253D-86E4-56AB-ED923B546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CF658B5-F415-FF48-AA8B-C49638642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0392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8DC1C-AF87-2DE4-2B5D-AD96537A2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3C25F26-19E8-C44C-9D6A-E989BCD58E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83DC82E-4A5E-96DB-37C2-D7880A5BA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E777C61-20BF-0BE7-2127-5C822EADE0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84980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DA7EF-9C30-54B0-1CE6-B93C20C54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19AD946-C892-D254-1D88-E3D4BACFB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F243766-111F-754B-669C-70E89CDA2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A57E1FD-9B07-3D2E-43AB-4F15234955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2700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60F3B-51FF-144A-1443-437DE6870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7B77025-494A-8789-E4C1-0FCB29DBB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01C77D6-5A97-190F-3CC2-94314E8CF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67E21D6-6D24-050D-5E3B-FC5EEDA3DA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98594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B0F6D-FE03-4701-F5ED-6E46D4217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86F7974-8FE3-59EC-1049-A3BC4172C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6DFE460-07A8-5EA6-3E6A-C9C3D048B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E10724-9EB7-A6FC-EA4F-36BBD91488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22059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458B6-8E57-9AEB-F87E-DDEE96DDF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2B1E8BE-F286-7FD5-4DB5-D3ADCB03A7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CBB6FFF-D118-6871-59B0-1FB76580B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DBF1BC1-7A7E-DFFD-2FF1-AE7C3629FD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66069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F6828-51D5-2D89-6A3D-28C07250E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B05DB76-8464-F40E-21CD-27C5815C7D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2D32B9C-69BC-1ABE-A793-8219EC797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BC4C9C-5917-B33D-337D-80E10EF0B1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67932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3B678-698B-A965-CD5A-CA8409224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5E11F33-C99F-09CE-33A1-4FCFD1B77E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2CC22C3-C425-7BA4-E406-3B07FDBDBF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BECEDAE-A174-5419-1CBD-A38EE7A564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379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70497-1D4D-F204-2F7D-87BA52665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A3B1BEA-0657-7B2A-83CC-71C8538D57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40735D6-A0EB-4749-4161-92F9AC29A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6887A8-B13D-6350-1F10-F27E9356E2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00061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8DC4F-4896-A598-E97B-FACE0690D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FA146E5-9F63-3538-8B30-70AD9D11CD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8B769A8-FA4F-FF32-0652-69D68788C1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E3C175D-7A39-9E9C-7951-80BCAF0E79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76432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49167-2EB8-0DF1-AF45-5FD52170B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F16A5EE-503A-26AE-BFF8-67B92786AB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AC090D7-C155-F3BD-14E6-C15F53ACD0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91892E-E013-D27A-A583-A73972C1F5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724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7A660-30A5-BEAB-694E-CD87D598D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7B9028B-3E94-A861-C7A3-29B58AC713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1390417-F5B6-11F3-304D-E4DFF387A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BAC2741-2A03-6A7A-94CA-E9AD01B9B7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0383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A0977-4872-C9BB-8994-4FA3FFD7B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6D2D438-49F1-B9A4-AA35-4193396D86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CEAAF53-A926-0C94-FCFC-017BC6CEA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AE84F9C-EE13-CA56-A4E9-95502ACB8C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21636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D1A1D-9F25-4C24-3858-E37C07346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C16CA31-3AD3-32BE-2DC4-3D552F44B0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7C14417-F503-D174-F04B-03DF5EE381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18E4B67-265D-5921-72B5-44F20A37C8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78655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D1F41-9497-419A-CF73-239BC37D1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9F26BD5-1BC2-3A0A-1693-CA55C6D80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9E7E514-B6E3-70E8-C7E8-0F928A90D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B61F401-BC27-BFD4-1FC1-B5A3F0D709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146605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532AF-2BC1-6211-2ED0-0CFB27FF9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FF95A4E-4E29-7C94-3751-AB25978C28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8E2A41D-C7F9-B7C3-D97D-42205A535F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9B46398-B135-AE8F-CF35-5E97F3278F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78689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CF54C-1DF1-4715-9AF8-CD51D2B11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71B53D4-AE4E-1BB9-28CA-E8AA4D0123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8CA7812-9F2B-424A-1D39-4C9AA80EE8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A01729C-AB66-FC8D-DC8E-0FB7157EDF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26011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5F2B3-3279-4829-F990-94C3B804C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4D5EA7C-A5E1-436A-D1D0-3E9D4D722F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DCBCC64-7820-084F-0231-ED3CCF18C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69998C7-B243-A49C-AEA0-68CD71591B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382374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9A450-2ACC-D59A-B025-CC9171B33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7690DA2-BEBA-716D-039C-62A7574F15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1E3F18B-B0B3-EF8D-A35D-C63712847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40802B1-9244-5700-7A7B-536DF0ED6C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748519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BFAF7-C6F1-85C1-07F5-43097B3C8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5E33BF5-A687-E2D5-0D56-33801CABC5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84D2F2B-0191-C08D-222D-ADD7583BF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150AE30-25F1-CBF6-2DB7-D83701B56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369443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3B704-D2C0-B323-C5A9-E3C66D413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5759831-4012-F91B-32B9-7D37869797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D604F54-C4CC-28D7-AC20-5CFF83A973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60F6DF3-E3E2-42C5-7612-55DF0F13D8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702185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EFA50-AD1F-D1DD-56EE-1F2B0FF84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8BF76F4-4F57-A4D1-2193-01E340D29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6223395-8518-4A30-EC09-F1810F3C65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04DA2F2-4612-5E16-B1AF-03A0C380BF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158260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0534E-F6AC-02B9-AE2A-F4119E82E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098B17A-BF98-BF53-7C85-1A20A89EA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F290F5A-E90F-717C-ECB3-4A9BA7D4D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1AD8A5-2F81-DDA1-9A7F-07CC81403E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887021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82E2A-77DD-7F2B-BC2E-D6D5753A0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419970E-580F-02EA-5655-4ACDB9BDEA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D43BF6B-FBE9-C56F-D0BC-E319396E18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303C3C3-3B2E-185B-6CF9-F70577CF01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707635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79AF0-2BD8-5ECE-CB4C-FB8AF8E27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10D9FBC-C7E8-99AE-03A5-D6FD3805AB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3A41E6A-6048-A4CA-91D8-48F40A1024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3722FA0-7046-AEBB-7E29-160D654EAC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42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576079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CF011-9687-ED6C-BB8F-F802197A5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6D64201-B476-38E5-974D-63389C2EB6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C7AC89C-A549-7731-6969-0B22E979EC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B6ED1F4-1EC9-368C-A564-8CA468ED7E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43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337976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ED061-85F3-E69F-44EF-CD670AF24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F7BCA20-14BA-ADF1-D6E5-D3C451BABB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D6BCA67-4E3D-78BF-0057-22C859909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CE0D4A2-E0EF-5D77-5DC4-AC4A1EE617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44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457322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AAD3A-B7D7-2E07-348E-6BFF8D37C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9328043-4D2A-394D-9C38-A3DE9CD399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D6D7393-11D4-AF6E-F2AB-0FB212DCA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97BC7B4-386B-D06D-3CA2-6716276CBF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45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273219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113B3-3506-CC78-CBBC-EFBD8E667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B0264F8-5A5B-42A4-5E91-75882143FB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A5B9536-B9E9-62C7-2309-DAB2E67CC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02FF86-6BBA-30F3-F13E-393041052C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46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124296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78741-3528-FD5C-F4FF-81D22606D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2549FB8-6C63-39B5-4958-0C8B8F6CE6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9BD1F56-ADE0-84AB-4AC8-D8A9B78A10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6DF7EC5-DD42-43F2-20E8-900C656D76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47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259946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38C33-9BF4-6CA0-6F6C-DAD7529A6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86BD573-B99B-05CA-C1E8-7231519C3F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63F40E5-B05A-917A-1DC9-AF594911E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43EBE3A-6D91-6C80-A051-3EDEE57A08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48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749703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4E6A0-CCDA-B195-DDD8-6CC953B01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82936AB-5137-CC2F-EA3E-BF9B8FD126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06AA91C-3E2C-58D1-116F-B6A3ADDCCF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0B5B153-7E73-E8EA-8A96-531C13C9E9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49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437864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4FF67-DB54-039E-604F-6E738EC48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36686A8-AD6C-5F7E-7F37-EDC0CFB47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9F4ABF2-F254-E865-D16A-0AC5628CA7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84A3323-7F89-D904-413E-A7D549CE3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50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678153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D1E9E-FB43-6AAB-7C27-DB97A1157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24723D9-1C00-19A0-DBF9-DF4FF86B6F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FBE797D-CE90-A21A-5B99-B2B61BBAE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13367A3-776A-DFA5-D257-67F6C9A041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51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475528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DC9D9-0046-255E-2CBC-5490704FD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A145D3D-650D-CAA4-F977-F03B86D19E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2D3BFA4-9CCC-F3F6-7C89-9D92AAB3F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E56C293-77B9-B41F-63A0-6971231179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52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333584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6AB2F-9088-7C74-FCF2-0F61A8690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B61FF95-428F-055C-26DC-9D398A3A0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1596F19-395D-DC97-79A1-7F015D524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E88E136-63F1-871A-1A0A-6FD9CD6780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53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244118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DCFF3-AE10-C236-2AAF-1BE60DB53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D0891F1-3954-08DC-16B7-0D8EA217F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C1363FD-8831-6740-7339-41289BD00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458D774-6D4E-8206-BEE5-4AEFBB6886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54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981806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1E2BE-DF64-E1B1-B9D5-AC12B0D1A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8CF727A-B0B2-D840-58E2-0D9BA4836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2516DD7-D48B-08CB-7062-3129C5A20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E0F4708-ABC3-7F2B-C583-78475279B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55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566412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D3F72-BD2C-7833-A759-E4F7D82B4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B347061-4864-C9C9-8F14-3229B27E41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9037810-18DE-60B7-C236-0C7E3D0BC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35C77D7-6155-BDF8-AE88-35F74755B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56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714805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D2320-9E11-F43C-D393-77ED3DE67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3D2AC2E-349A-E4F4-1925-F78220CB5D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A791935-AB7F-0E47-6B60-0F3638F50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1897171-5135-CCE5-D519-A674A1BC3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57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179998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C067F-0A96-3EA0-CFC6-8411CCCFC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1BD405B-9270-0257-61CB-4A97CEB90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351DE75-1BE1-991C-7341-18CA137AF7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44890C1-0CF2-524C-9AFB-6C1965D727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58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470195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8F344-916A-9960-D747-E57965AB6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E5B4DF6-7AF2-C888-FA78-BC93694D7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F9FE0C3-ADFD-3816-B89F-9FA4D4611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891A952-7178-DBD8-DFFB-7FD48B4462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59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575483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52EFB-EDEE-3B16-E36E-574FD6946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9A819D2-E95F-C169-504B-27710A7F8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D43577B-6B26-D3E0-57EF-BD0B7EF28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6045AF-A5AB-3CC4-7E80-4E881D1B11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60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0162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052050" y="0"/>
            <a:ext cx="10052050" cy="11151870"/>
          </a:xfrm>
          <a:custGeom>
            <a:avLst/>
            <a:gdLst/>
            <a:ahLst/>
            <a:cxnLst/>
            <a:rect l="l" t="t" r="r" b="b"/>
            <a:pathLst>
              <a:path w="10052050" h="11151870">
                <a:moveTo>
                  <a:pt x="0" y="11151492"/>
                </a:moveTo>
                <a:lnTo>
                  <a:pt x="10052039" y="11151492"/>
                </a:lnTo>
                <a:lnTo>
                  <a:pt x="1005203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47151" y="9319087"/>
            <a:ext cx="3693160" cy="942975"/>
          </a:xfrm>
          <a:custGeom>
            <a:avLst/>
            <a:gdLst/>
            <a:ahLst/>
            <a:cxnLst/>
            <a:rect l="l" t="t" r="r" b="b"/>
            <a:pathLst>
              <a:path w="3693160" h="942975">
                <a:moveTo>
                  <a:pt x="3692945" y="0"/>
                </a:moveTo>
                <a:lnTo>
                  <a:pt x="0" y="0"/>
                </a:lnTo>
                <a:lnTo>
                  <a:pt x="0" y="942379"/>
                </a:lnTo>
                <a:lnTo>
                  <a:pt x="3692945" y="942379"/>
                </a:lnTo>
                <a:lnTo>
                  <a:pt x="3692945" y="0"/>
                </a:lnTo>
                <a:close/>
              </a:path>
            </a:pathLst>
          </a:custGeom>
          <a:solidFill>
            <a:srgbClr val="E210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47076" y="9439611"/>
            <a:ext cx="3693160" cy="700405"/>
          </a:xfrm>
          <a:custGeom>
            <a:avLst/>
            <a:gdLst/>
            <a:ahLst/>
            <a:cxnLst/>
            <a:rect l="l" t="t" r="r" b="b"/>
            <a:pathLst>
              <a:path w="3693160" h="700404">
                <a:moveTo>
                  <a:pt x="198361" y="660984"/>
                </a:moveTo>
                <a:lnTo>
                  <a:pt x="0" y="660984"/>
                </a:lnTo>
                <a:lnTo>
                  <a:pt x="0" y="685812"/>
                </a:lnTo>
                <a:lnTo>
                  <a:pt x="198361" y="685812"/>
                </a:lnTo>
                <a:lnTo>
                  <a:pt x="198361" y="660984"/>
                </a:lnTo>
                <a:close/>
              </a:path>
              <a:path w="3693160" h="700404">
                <a:moveTo>
                  <a:pt x="198361" y="502246"/>
                </a:moveTo>
                <a:lnTo>
                  <a:pt x="0" y="502246"/>
                </a:lnTo>
                <a:lnTo>
                  <a:pt x="0" y="527050"/>
                </a:lnTo>
                <a:lnTo>
                  <a:pt x="198361" y="527050"/>
                </a:lnTo>
                <a:lnTo>
                  <a:pt x="198361" y="502246"/>
                </a:lnTo>
                <a:close/>
              </a:path>
              <a:path w="3693160" h="700404">
                <a:moveTo>
                  <a:pt x="198361" y="337553"/>
                </a:moveTo>
                <a:lnTo>
                  <a:pt x="0" y="337553"/>
                </a:lnTo>
                <a:lnTo>
                  <a:pt x="0" y="362356"/>
                </a:lnTo>
                <a:lnTo>
                  <a:pt x="198361" y="362356"/>
                </a:lnTo>
                <a:lnTo>
                  <a:pt x="198361" y="337553"/>
                </a:lnTo>
                <a:close/>
              </a:path>
              <a:path w="3693160" h="700404">
                <a:moveTo>
                  <a:pt x="198361" y="175056"/>
                </a:moveTo>
                <a:lnTo>
                  <a:pt x="0" y="175056"/>
                </a:lnTo>
                <a:lnTo>
                  <a:pt x="0" y="199898"/>
                </a:lnTo>
                <a:lnTo>
                  <a:pt x="198361" y="199898"/>
                </a:lnTo>
                <a:lnTo>
                  <a:pt x="198361" y="175056"/>
                </a:lnTo>
                <a:close/>
              </a:path>
              <a:path w="3693160" h="700404">
                <a:moveTo>
                  <a:pt x="198361" y="16802"/>
                </a:moveTo>
                <a:lnTo>
                  <a:pt x="0" y="16802"/>
                </a:lnTo>
                <a:lnTo>
                  <a:pt x="0" y="41592"/>
                </a:lnTo>
                <a:lnTo>
                  <a:pt x="198361" y="41592"/>
                </a:lnTo>
                <a:lnTo>
                  <a:pt x="198361" y="16802"/>
                </a:lnTo>
                <a:close/>
              </a:path>
              <a:path w="3693160" h="700404">
                <a:moveTo>
                  <a:pt x="908532" y="161366"/>
                </a:moveTo>
                <a:lnTo>
                  <a:pt x="905624" y="119291"/>
                </a:lnTo>
                <a:lnTo>
                  <a:pt x="870216" y="56515"/>
                </a:lnTo>
                <a:lnTo>
                  <a:pt x="804735" y="18783"/>
                </a:lnTo>
                <a:lnTo>
                  <a:pt x="764209" y="8001"/>
                </a:lnTo>
                <a:lnTo>
                  <a:pt x="720382" y="1917"/>
                </a:lnTo>
                <a:lnTo>
                  <a:pt x="674649" y="0"/>
                </a:lnTo>
                <a:lnTo>
                  <a:pt x="627659" y="1714"/>
                </a:lnTo>
                <a:lnTo>
                  <a:pt x="580986" y="7264"/>
                </a:lnTo>
                <a:lnTo>
                  <a:pt x="535622" y="17233"/>
                </a:lnTo>
                <a:lnTo>
                  <a:pt x="492493" y="32219"/>
                </a:lnTo>
                <a:lnTo>
                  <a:pt x="452564" y="52793"/>
                </a:lnTo>
                <a:lnTo>
                  <a:pt x="416788" y="79565"/>
                </a:lnTo>
                <a:lnTo>
                  <a:pt x="386118" y="113106"/>
                </a:lnTo>
                <a:lnTo>
                  <a:pt x="361518" y="154025"/>
                </a:lnTo>
                <a:lnTo>
                  <a:pt x="343941" y="202895"/>
                </a:lnTo>
                <a:lnTo>
                  <a:pt x="339204" y="254914"/>
                </a:lnTo>
                <a:lnTo>
                  <a:pt x="348361" y="300837"/>
                </a:lnTo>
                <a:lnTo>
                  <a:pt x="371944" y="338747"/>
                </a:lnTo>
                <a:lnTo>
                  <a:pt x="410476" y="366712"/>
                </a:lnTo>
                <a:lnTo>
                  <a:pt x="460273" y="387235"/>
                </a:lnTo>
                <a:lnTo>
                  <a:pt x="508939" y="402196"/>
                </a:lnTo>
                <a:lnTo>
                  <a:pt x="594944" y="424522"/>
                </a:lnTo>
                <a:lnTo>
                  <a:pt x="628256" y="436435"/>
                </a:lnTo>
                <a:lnTo>
                  <a:pt x="652462" y="451904"/>
                </a:lnTo>
                <a:lnTo>
                  <a:pt x="665543" y="473189"/>
                </a:lnTo>
                <a:lnTo>
                  <a:pt x="665505" y="502577"/>
                </a:lnTo>
                <a:lnTo>
                  <a:pt x="650049" y="531901"/>
                </a:lnTo>
                <a:lnTo>
                  <a:pt x="622071" y="552831"/>
                </a:lnTo>
                <a:lnTo>
                  <a:pt x="587806" y="565391"/>
                </a:lnTo>
                <a:lnTo>
                  <a:pt x="553504" y="569569"/>
                </a:lnTo>
                <a:lnTo>
                  <a:pt x="508876" y="563206"/>
                </a:lnTo>
                <a:lnTo>
                  <a:pt x="477113" y="544449"/>
                </a:lnTo>
                <a:lnTo>
                  <a:pt x="460578" y="513829"/>
                </a:lnTo>
                <a:lnTo>
                  <a:pt x="461683" y="471868"/>
                </a:lnTo>
                <a:lnTo>
                  <a:pt x="275539" y="471868"/>
                </a:lnTo>
                <a:lnTo>
                  <a:pt x="269443" y="527735"/>
                </a:lnTo>
                <a:lnTo>
                  <a:pt x="274370" y="574230"/>
                </a:lnTo>
                <a:lnTo>
                  <a:pt x="289229" y="612101"/>
                </a:lnTo>
                <a:lnTo>
                  <a:pt x="312877" y="642086"/>
                </a:lnTo>
                <a:lnTo>
                  <a:pt x="344220" y="664946"/>
                </a:lnTo>
                <a:lnTo>
                  <a:pt x="382117" y="681431"/>
                </a:lnTo>
                <a:lnTo>
                  <a:pt x="425475" y="692277"/>
                </a:lnTo>
                <a:lnTo>
                  <a:pt x="473151" y="698233"/>
                </a:lnTo>
                <a:lnTo>
                  <a:pt x="524052" y="700049"/>
                </a:lnTo>
                <a:lnTo>
                  <a:pt x="575627" y="697547"/>
                </a:lnTo>
                <a:lnTo>
                  <a:pt x="626084" y="690016"/>
                </a:lnTo>
                <a:lnTo>
                  <a:pt x="674420" y="677392"/>
                </a:lnTo>
                <a:lnTo>
                  <a:pt x="719620" y="659612"/>
                </a:lnTo>
                <a:lnTo>
                  <a:pt x="760679" y="636625"/>
                </a:lnTo>
                <a:lnTo>
                  <a:pt x="796582" y="608368"/>
                </a:lnTo>
                <a:lnTo>
                  <a:pt x="826350" y="574789"/>
                </a:lnTo>
                <a:lnTo>
                  <a:pt x="829373" y="569569"/>
                </a:lnTo>
                <a:lnTo>
                  <a:pt x="848956" y="535825"/>
                </a:lnTo>
                <a:lnTo>
                  <a:pt x="863409" y="491413"/>
                </a:lnTo>
                <a:lnTo>
                  <a:pt x="869188" y="436968"/>
                </a:lnTo>
                <a:lnTo>
                  <a:pt x="862253" y="393585"/>
                </a:lnTo>
                <a:lnTo>
                  <a:pt x="844715" y="359727"/>
                </a:lnTo>
                <a:lnTo>
                  <a:pt x="786193" y="314401"/>
                </a:lnTo>
                <a:lnTo>
                  <a:pt x="749401" y="299821"/>
                </a:lnTo>
                <a:lnTo>
                  <a:pt x="710374" y="288569"/>
                </a:lnTo>
                <a:lnTo>
                  <a:pt x="634009" y="269887"/>
                </a:lnTo>
                <a:lnTo>
                  <a:pt x="598487" y="259118"/>
                </a:lnTo>
                <a:lnTo>
                  <a:pt x="566508" y="244424"/>
                </a:lnTo>
                <a:lnTo>
                  <a:pt x="545211" y="222923"/>
                </a:lnTo>
                <a:lnTo>
                  <a:pt x="541718" y="191719"/>
                </a:lnTo>
                <a:lnTo>
                  <a:pt x="553250" y="167982"/>
                </a:lnTo>
                <a:lnTo>
                  <a:pt x="574865" y="148437"/>
                </a:lnTo>
                <a:lnTo>
                  <a:pt x="603186" y="135178"/>
                </a:lnTo>
                <a:lnTo>
                  <a:pt x="634784" y="130302"/>
                </a:lnTo>
                <a:lnTo>
                  <a:pt x="656831" y="131686"/>
                </a:lnTo>
                <a:lnTo>
                  <a:pt x="701929" y="151726"/>
                </a:lnTo>
                <a:lnTo>
                  <a:pt x="716407" y="192938"/>
                </a:lnTo>
                <a:lnTo>
                  <a:pt x="713600" y="211264"/>
                </a:lnTo>
                <a:lnTo>
                  <a:pt x="899718" y="211264"/>
                </a:lnTo>
                <a:lnTo>
                  <a:pt x="908532" y="161366"/>
                </a:lnTo>
                <a:close/>
              </a:path>
              <a:path w="3693160" h="700404">
                <a:moveTo>
                  <a:pt x="1580984" y="13944"/>
                </a:moveTo>
                <a:lnTo>
                  <a:pt x="1069111" y="13944"/>
                </a:lnTo>
                <a:lnTo>
                  <a:pt x="926261" y="685939"/>
                </a:lnTo>
                <a:lnTo>
                  <a:pt x="1438148" y="685939"/>
                </a:lnTo>
                <a:lnTo>
                  <a:pt x="1465910" y="555612"/>
                </a:lnTo>
                <a:lnTo>
                  <a:pt x="1140142" y="555612"/>
                </a:lnTo>
                <a:lnTo>
                  <a:pt x="1170393" y="413207"/>
                </a:lnTo>
                <a:lnTo>
                  <a:pt x="1470088" y="413207"/>
                </a:lnTo>
                <a:lnTo>
                  <a:pt x="1497685" y="282968"/>
                </a:lnTo>
                <a:lnTo>
                  <a:pt x="1198003" y="282968"/>
                </a:lnTo>
                <a:lnTo>
                  <a:pt x="1227467" y="144246"/>
                </a:lnTo>
                <a:lnTo>
                  <a:pt x="1553235" y="144246"/>
                </a:lnTo>
                <a:lnTo>
                  <a:pt x="1580984" y="13944"/>
                </a:lnTo>
                <a:close/>
              </a:path>
              <a:path w="3693160" h="700404">
                <a:moveTo>
                  <a:pt x="2341372" y="13944"/>
                </a:moveTo>
                <a:lnTo>
                  <a:pt x="2173846" y="13944"/>
                </a:lnTo>
                <a:lnTo>
                  <a:pt x="2067737" y="512787"/>
                </a:lnTo>
                <a:lnTo>
                  <a:pt x="2065578" y="514692"/>
                </a:lnTo>
                <a:lnTo>
                  <a:pt x="1984082" y="171284"/>
                </a:lnTo>
                <a:lnTo>
                  <a:pt x="1946744" y="13944"/>
                </a:lnTo>
                <a:lnTo>
                  <a:pt x="1686153" y="13944"/>
                </a:lnTo>
                <a:lnTo>
                  <a:pt x="1543291" y="685939"/>
                </a:lnTo>
                <a:lnTo>
                  <a:pt x="1710829" y="685939"/>
                </a:lnTo>
                <a:lnTo>
                  <a:pt x="1820202" y="171284"/>
                </a:lnTo>
                <a:lnTo>
                  <a:pt x="1822056" y="171284"/>
                </a:lnTo>
                <a:lnTo>
                  <a:pt x="1940699" y="685939"/>
                </a:lnTo>
                <a:lnTo>
                  <a:pt x="2198522" y="685939"/>
                </a:lnTo>
                <a:lnTo>
                  <a:pt x="2234920" y="514692"/>
                </a:lnTo>
                <a:lnTo>
                  <a:pt x="2341372" y="13944"/>
                </a:lnTo>
                <a:close/>
              </a:path>
              <a:path w="3693160" h="700404">
                <a:moveTo>
                  <a:pt x="3024975" y="685939"/>
                </a:moveTo>
                <a:lnTo>
                  <a:pt x="3001073" y="554697"/>
                </a:lnTo>
                <a:lnTo>
                  <a:pt x="2977350" y="424408"/>
                </a:lnTo>
                <a:lnTo>
                  <a:pt x="2926486" y="145161"/>
                </a:lnTo>
                <a:lnTo>
                  <a:pt x="2902585" y="13944"/>
                </a:lnTo>
                <a:lnTo>
                  <a:pt x="2779890" y="13944"/>
                </a:lnTo>
                <a:lnTo>
                  <a:pt x="2779890" y="424408"/>
                </a:lnTo>
                <a:lnTo>
                  <a:pt x="2600274" y="424408"/>
                </a:lnTo>
                <a:lnTo>
                  <a:pt x="2750870" y="145161"/>
                </a:lnTo>
                <a:lnTo>
                  <a:pt x="2753652" y="145161"/>
                </a:lnTo>
                <a:lnTo>
                  <a:pt x="2779890" y="424408"/>
                </a:lnTo>
                <a:lnTo>
                  <a:pt x="2779890" y="13944"/>
                </a:lnTo>
                <a:lnTo>
                  <a:pt x="2675496" y="13944"/>
                </a:lnTo>
                <a:lnTo>
                  <a:pt x="2267356" y="685939"/>
                </a:lnTo>
                <a:lnTo>
                  <a:pt x="2453525" y="685939"/>
                </a:lnTo>
                <a:lnTo>
                  <a:pt x="2525179" y="554697"/>
                </a:lnTo>
                <a:lnTo>
                  <a:pt x="2797886" y="554697"/>
                </a:lnTo>
                <a:lnTo>
                  <a:pt x="2814637" y="685939"/>
                </a:lnTo>
                <a:lnTo>
                  <a:pt x="3024975" y="685939"/>
                </a:lnTo>
                <a:close/>
              </a:path>
              <a:path w="3693160" h="700404">
                <a:moveTo>
                  <a:pt x="3424682" y="13944"/>
                </a:moveTo>
                <a:lnTo>
                  <a:pt x="3238550" y="13944"/>
                </a:lnTo>
                <a:lnTo>
                  <a:pt x="3095675" y="685939"/>
                </a:lnTo>
                <a:lnTo>
                  <a:pt x="3281845" y="685939"/>
                </a:lnTo>
                <a:lnTo>
                  <a:pt x="3424682" y="13944"/>
                </a:lnTo>
                <a:close/>
              </a:path>
              <a:path w="3693160" h="700404">
                <a:moveTo>
                  <a:pt x="3692931" y="660984"/>
                </a:moveTo>
                <a:lnTo>
                  <a:pt x="3494582" y="660984"/>
                </a:lnTo>
                <a:lnTo>
                  <a:pt x="3494582" y="685812"/>
                </a:lnTo>
                <a:lnTo>
                  <a:pt x="3692931" y="685812"/>
                </a:lnTo>
                <a:lnTo>
                  <a:pt x="3692931" y="660984"/>
                </a:lnTo>
                <a:close/>
              </a:path>
              <a:path w="3693160" h="700404">
                <a:moveTo>
                  <a:pt x="3692931" y="502246"/>
                </a:moveTo>
                <a:lnTo>
                  <a:pt x="3494582" y="502246"/>
                </a:lnTo>
                <a:lnTo>
                  <a:pt x="3494582" y="527050"/>
                </a:lnTo>
                <a:lnTo>
                  <a:pt x="3692931" y="527050"/>
                </a:lnTo>
                <a:lnTo>
                  <a:pt x="3692931" y="502246"/>
                </a:lnTo>
                <a:close/>
              </a:path>
              <a:path w="3693160" h="700404">
                <a:moveTo>
                  <a:pt x="3692931" y="337553"/>
                </a:moveTo>
                <a:lnTo>
                  <a:pt x="3494582" y="337553"/>
                </a:lnTo>
                <a:lnTo>
                  <a:pt x="3494582" y="362356"/>
                </a:lnTo>
                <a:lnTo>
                  <a:pt x="3692931" y="362356"/>
                </a:lnTo>
                <a:lnTo>
                  <a:pt x="3692931" y="337553"/>
                </a:lnTo>
                <a:close/>
              </a:path>
              <a:path w="3693160" h="700404">
                <a:moveTo>
                  <a:pt x="3692931" y="175056"/>
                </a:moveTo>
                <a:lnTo>
                  <a:pt x="3494582" y="175056"/>
                </a:lnTo>
                <a:lnTo>
                  <a:pt x="3494582" y="199898"/>
                </a:lnTo>
                <a:lnTo>
                  <a:pt x="3692931" y="199898"/>
                </a:lnTo>
                <a:lnTo>
                  <a:pt x="3692931" y="175056"/>
                </a:lnTo>
                <a:close/>
              </a:path>
              <a:path w="3693160" h="700404">
                <a:moveTo>
                  <a:pt x="3692931" y="16802"/>
                </a:moveTo>
                <a:lnTo>
                  <a:pt x="3494582" y="16802"/>
                </a:lnTo>
                <a:lnTo>
                  <a:pt x="3494582" y="41592"/>
                </a:lnTo>
                <a:lnTo>
                  <a:pt x="3692931" y="41592"/>
                </a:lnTo>
                <a:lnTo>
                  <a:pt x="3692931" y="1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1057130"/>
            <a:ext cx="3245974" cy="272241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4303094"/>
            <a:ext cx="3245974" cy="27224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7549068"/>
            <a:ext cx="3245974" cy="272243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104100" cy="11309350"/>
          </a:xfrm>
          <a:prstGeom prst="rect">
            <a:avLst/>
          </a:prstGeom>
        </p:spPr>
      </p:pic>
      <p:sp>
        <p:nvSpPr>
          <p:cNvPr id="6" name="Espaço Reservado para Texto 14">
            <a:extLst>
              <a:ext uri="{FF2B5EF4-FFF2-40B4-BE49-F238E27FC236}">
                <a16:creationId xmlns:a16="http://schemas.microsoft.com/office/drawing/2014/main" id="{741322F5-93ED-4D68-A8FF-9359DF6E75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45099" y="448220"/>
            <a:ext cx="15513191" cy="111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256" b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  <a:lvl2pPr>
              <a:defRPr sz="5277"/>
            </a:lvl2pPr>
            <a:lvl3pPr>
              <a:defRPr sz="4617"/>
            </a:lvl3pPr>
            <a:lvl4pPr>
              <a:defRPr sz="3958"/>
            </a:lvl4pPr>
            <a:lvl5pPr>
              <a:defRPr sz="3958"/>
            </a:lvl5pPr>
          </a:lstStyle>
          <a:p>
            <a:pPr lvl="0"/>
            <a:r>
              <a:rPr lang="pt-BR"/>
              <a:t>Digitar seu título aqui</a:t>
            </a:r>
          </a:p>
        </p:txBody>
      </p:sp>
      <p:sp>
        <p:nvSpPr>
          <p:cNvPr id="7" name="Espaço Reservado para Texto 16">
            <a:extLst>
              <a:ext uri="{FF2B5EF4-FFF2-40B4-BE49-F238E27FC236}">
                <a16:creationId xmlns:a16="http://schemas.microsoft.com/office/drawing/2014/main" id="{2B77ECB5-455F-48E1-AC6C-CB94B5AD6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43929" y="2063797"/>
            <a:ext cx="15514360" cy="507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98" b="1">
                <a:solidFill>
                  <a:srgbClr val="E51E3C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/>
              <a:t>Digitar seu subtítulo aqui</a:t>
            </a:r>
          </a:p>
        </p:txBody>
      </p:sp>
      <p:sp>
        <p:nvSpPr>
          <p:cNvPr id="8" name="Espaço Reservado para Texto 18">
            <a:extLst>
              <a:ext uri="{FF2B5EF4-FFF2-40B4-BE49-F238E27FC236}">
                <a16:creationId xmlns:a16="http://schemas.microsoft.com/office/drawing/2014/main" id="{94A25BC8-06B9-4702-900E-C725EC8984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43930" y="3105603"/>
            <a:ext cx="14341622" cy="1872116"/>
          </a:xfrm>
          <a:prstGeom prst="rect">
            <a:avLst/>
          </a:prstGeom>
        </p:spPr>
        <p:txBody>
          <a:bodyPr/>
          <a:lstStyle>
            <a:lvl1pPr marL="0" marR="0" indent="0" algn="l" defTabSz="1507846" rtl="0" eaLnBrk="1" fontAlgn="auto" latinLnBrk="0" hangingPunct="1">
              <a:lnSpc>
                <a:spcPct val="90000"/>
              </a:lnSpc>
              <a:spcBef>
                <a:spcPts val="164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958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 vero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eos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accusamus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iusto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odio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dignissimos</a:t>
            </a:r>
            <a:endParaRPr lang="pt-BR" sz="3298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77"/>
            </a:endParaRPr>
          </a:p>
          <a:p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praesentium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voluptatum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deleniti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atque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.</a:t>
            </a:r>
          </a:p>
          <a:p>
            <a:pPr lvl="0"/>
            <a:r>
              <a:rPr lang="pt-B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2902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45691" y="1020182"/>
            <a:ext cx="15812717" cy="3010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861" y="2375171"/>
            <a:ext cx="10305415" cy="522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eb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ebp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" y="398"/>
            <a:ext cx="20102688" cy="11307763"/>
          </a:xfrm>
          <a:prstGeom prst="rect">
            <a:avLst/>
          </a:prstGeom>
        </p:spPr>
      </p:pic>
      <p:sp>
        <p:nvSpPr>
          <p:cNvPr id="12" name="object 10">
            <a:extLst>
              <a:ext uri="{FF2B5EF4-FFF2-40B4-BE49-F238E27FC236}">
                <a16:creationId xmlns:a16="http://schemas.microsoft.com/office/drawing/2014/main" id="{4D48E881-58D3-4B18-B397-6971EA7E7E23}"/>
              </a:ext>
            </a:extLst>
          </p:cNvPr>
          <p:cNvSpPr/>
          <p:nvPr/>
        </p:nvSpPr>
        <p:spPr>
          <a:xfrm>
            <a:off x="706" y="11131431"/>
            <a:ext cx="20102688" cy="16204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pPr defTabSz="1507846"/>
            <a:endParaRPr sz="18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299A9214-8828-4B4B-9941-B4CFBF09BDD0}"/>
              </a:ext>
            </a:extLst>
          </p:cNvPr>
          <p:cNvSpPr txBox="1">
            <a:spLocks/>
          </p:cNvSpPr>
          <p:nvPr/>
        </p:nvSpPr>
        <p:spPr>
          <a:xfrm>
            <a:off x="8884870" y="2759075"/>
            <a:ext cx="10692178" cy="2044148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699" defTabSz="1507846">
              <a:spcBef>
                <a:spcPts val="101"/>
              </a:spcBef>
            </a:pPr>
            <a:r>
              <a:rPr lang="pt-BR" sz="6600" b="1" i="1" kern="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Metodologias Ágeis para desenvolvimento de Softwares</a:t>
            </a: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9DB5E0E8-CC40-4125-A2AE-B830D0D73C7D}"/>
              </a:ext>
            </a:extLst>
          </p:cNvPr>
          <p:cNvSpPr/>
          <p:nvPr/>
        </p:nvSpPr>
        <p:spPr>
          <a:xfrm>
            <a:off x="8017902" y="2454275"/>
            <a:ext cx="0" cy="3087979"/>
          </a:xfrm>
          <a:custGeom>
            <a:avLst/>
            <a:gdLst/>
            <a:ahLst/>
            <a:cxnLst/>
            <a:rect l="l" t="t" r="r" b="b"/>
            <a:pathLst>
              <a:path h="3001009">
                <a:moveTo>
                  <a:pt x="0" y="3000400"/>
                </a:moveTo>
                <a:lnTo>
                  <a:pt x="0" y="0"/>
                </a:lnTo>
              </a:path>
            </a:pathLst>
          </a:custGeom>
          <a:ln w="2783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1507846"/>
            <a:endParaRPr sz="1801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3" name="object 3">
            <a:extLst>
              <a:ext uri="{FF2B5EF4-FFF2-40B4-BE49-F238E27FC236}">
                <a16:creationId xmlns:a16="http://schemas.microsoft.com/office/drawing/2014/main" id="{F6A5027A-E215-4339-A81A-70A4E1B2C71F}"/>
              </a:ext>
            </a:extLst>
          </p:cNvPr>
          <p:cNvGrpSpPr/>
          <p:nvPr/>
        </p:nvGrpSpPr>
        <p:grpSpPr>
          <a:xfrm>
            <a:off x="2243795" y="3261247"/>
            <a:ext cx="4357813" cy="1145007"/>
            <a:chOff x="15364003" y="1047088"/>
            <a:chExt cx="3693160" cy="94297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35C6579F-DD30-4CD7-8A2C-1FFFDBA4E0E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pPr defTabSz="1507846"/>
              <a:endParaRPr sz="180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CD579FB6-1ED6-4812-81D3-EB30E18FC70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507846"/>
              <a:endParaRPr sz="180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8A258380-2930-47F4-ACEA-A6BA1F6CA553}"/>
              </a:ext>
            </a:extLst>
          </p:cNvPr>
          <p:cNvGrpSpPr/>
          <p:nvPr/>
        </p:nvGrpSpPr>
        <p:grpSpPr>
          <a:xfrm>
            <a:off x="9201247" y="6873875"/>
            <a:ext cx="9994803" cy="2033890"/>
            <a:chOff x="9201247" y="6873875"/>
            <a:chExt cx="9994803" cy="2033890"/>
          </a:xfrm>
        </p:grpSpPr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2F76E57F-4516-44C1-B269-693C768D9ADE}"/>
                </a:ext>
              </a:extLst>
            </p:cNvPr>
            <p:cNvSpPr txBox="1">
              <a:spLocks/>
            </p:cNvSpPr>
            <p:nvPr/>
          </p:nvSpPr>
          <p:spPr>
            <a:xfrm>
              <a:off x="9201247" y="6873875"/>
              <a:ext cx="9994803" cy="2033890"/>
            </a:xfrm>
            <a:prstGeom prst="rect">
              <a:avLst/>
            </a:prstGeom>
            <a:solidFill>
              <a:srgbClr val="C00000"/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endParaRPr lang="pt-BR" sz="1600" b="1" kern="0" spc="-25" dirty="0">
                <a:solidFill>
                  <a:srgbClr val="C00000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3600" b="1" kern="0" spc="-25" dirty="0">
                  <a:solidFill>
                    <a:srgbClr val="C00000"/>
                  </a:solidFill>
                  <a:latin typeface="Montserrat ExtraBold" panose="020B0604020202020204" charset="0"/>
                </a:rPr>
                <a:t>FENASUCRO 2022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b="1" kern="0" spc="-25" dirty="0">
                  <a:solidFill>
                    <a:srgbClr val="C00000"/>
                  </a:solidFill>
                  <a:latin typeface="Montserrat ExtraBold" panose="020B0604020202020204" charset="0"/>
                </a:rPr>
                <a:t>Auditório ...</a:t>
              </a:r>
            </a:p>
            <a:p>
              <a:pPr marL="12700" algn="r">
                <a:spcBef>
                  <a:spcPts val="100"/>
                </a:spcBef>
              </a:pPr>
              <a:endParaRPr lang="pt-BR" sz="2400" i="1" kern="0" spc="-25" dirty="0">
                <a:solidFill>
                  <a:srgbClr val="C00000"/>
                </a:solidFill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2400" kern="0" spc="-25" dirty="0">
                  <a:solidFill>
                    <a:srgbClr val="C00000"/>
                  </a:solidFill>
                </a:rPr>
                <a:t>Sertãozinho/SP 19 de ago. de 2022</a:t>
              </a:r>
              <a:endParaRPr lang="pt-BR" sz="2800" kern="0" dirty="0">
                <a:solidFill>
                  <a:srgbClr val="C00000"/>
                </a:solidFill>
              </a:endParaRPr>
            </a:p>
          </p:txBody>
        </p:sp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7A133603-A712-4ECF-9A36-36E433CC4C03}"/>
                </a:ext>
              </a:extLst>
            </p:cNvPr>
            <p:cNvSpPr txBox="1">
              <a:spLocks/>
            </p:cNvSpPr>
            <p:nvPr/>
          </p:nvSpPr>
          <p:spPr>
            <a:xfrm>
              <a:off x="10270078" y="7360398"/>
              <a:ext cx="6857992" cy="1084912"/>
            </a:xfrm>
            <a:prstGeom prst="rect">
              <a:avLst/>
            </a:prstGeom>
            <a:solidFill>
              <a:srgbClr val="C00000"/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endParaRPr lang="pt-BR" sz="1400" b="1" kern="0" spc="-25" dirty="0">
                <a:solidFill>
                  <a:srgbClr val="FFFFFF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3600" b="1" kern="0" spc="-25" dirty="0">
                  <a:solidFill>
                    <a:srgbClr val="FFFFFF"/>
                  </a:solidFill>
                  <a:latin typeface="Montserrat ExtraBold" panose="020B0604020202020204" charset="0"/>
                </a:rPr>
                <a:t>SENAI 5.13 - Jaguariúna</a:t>
              </a:r>
              <a:endParaRPr lang="pt-BR" sz="2800" b="1" kern="0" spc="-25" dirty="0">
                <a:solidFill>
                  <a:srgbClr val="FFFFFF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endParaRPr lang="pt-BR" sz="1800" i="1" kern="0" spc="-25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4B79C395-5E26-4C89-A9E4-FA649F6D8416}"/>
              </a:ext>
            </a:extLst>
          </p:cNvPr>
          <p:cNvGrpSpPr/>
          <p:nvPr/>
        </p:nvGrpSpPr>
        <p:grpSpPr>
          <a:xfrm>
            <a:off x="12871450" y="9118387"/>
            <a:ext cx="6254754" cy="825868"/>
            <a:chOff x="12871450" y="9118387"/>
            <a:chExt cx="6254754" cy="825868"/>
          </a:xfrm>
        </p:grpSpPr>
        <p:sp>
          <p:nvSpPr>
            <p:cNvPr id="16" name="object 6">
              <a:extLst>
                <a:ext uri="{FF2B5EF4-FFF2-40B4-BE49-F238E27FC236}">
                  <a16:creationId xmlns:a16="http://schemas.microsoft.com/office/drawing/2014/main" id="{6CF72D63-5AAF-4BE9-AFFC-BCAFEEB76FB9}"/>
                </a:ext>
              </a:extLst>
            </p:cNvPr>
            <p:cNvSpPr txBox="1">
              <a:spLocks/>
            </p:cNvSpPr>
            <p:nvPr/>
          </p:nvSpPr>
          <p:spPr>
            <a:xfrm>
              <a:off x="12871450" y="9118388"/>
              <a:ext cx="6254754" cy="82586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r>
                <a:rPr lang="pt-BR" sz="2800" b="1" kern="0" spc="-25" dirty="0">
                  <a:solidFill>
                    <a:schemeClr val="bg2">
                      <a:lumMod val="25000"/>
                    </a:schemeClr>
                  </a:solidFill>
                </a:rPr>
                <a:t>Paulo Rogério Ferreira Tescaro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i="1" kern="0" spc="-25" dirty="0">
                  <a:solidFill>
                    <a:schemeClr val="bg2">
                      <a:lumMod val="25000"/>
                    </a:schemeClr>
                  </a:solidFill>
                </a:rPr>
                <a:t>Especialista em Tecnologia</a:t>
              </a:r>
              <a:endParaRPr lang="pt-BR" sz="2800" kern="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C0F3FD7B-98E7-4252-8F7C-5224E77E0354}"/>
                </a:ext>
              </a:extLst>
            </p:cNvPr>
            <p:cNvSpPr txBox="1">
              <a:spLocks/>
            </p:cNvSpPr>
            <p:nvPr/>
          </p:nvSpPr>
          <p:spPr>
            <a:xfrm>
              <a:off x="12871450" y="9118387"/>
              <a:ext cx="6019800" cy="82586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r>
                <a:rPr lang="pt-BR" sz="2800" b="1" kern="0" spc="-25" dirty="0">
                  <a:solidFill>
                    <a:srgbClr val="FFFFFF"/>
                  </a:solidFill>
                </a:rPr>
                <a:t>Luis Fernando Spoljaric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i="1" kern="0" spc="-25" dirty="0">
                  <a:solidFill>
                    <a:srgbClr val="FFFFFF"/>
                  </a:solidFill>
                </a:rPr>
                <a:t>Instrutor de formação profissional III</a:t>
              </a:r>
              <a:endParaRPr lang="pt-BR" sz="2800" kern="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/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</a:rPr>
              <a:t>Metodologias ágeis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32" name="Picture 2" descr="Metodologia ágil nos negócios: conheça as 3 mais utilizadas - Blog Auddas">
            <a:extLst>
              <a:ext uri="{FF2B5EF4-FFF2-40B4-BE49-F238E27FC236}">
                <a16:creationId xmlns:a16="http://schemas.microsoft.com/office/drawing/2014/main" id="{7E71741A-9240-AB4B-A1B8-081B71D86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9889" y="2630497"/>
            <a:ext cx="11704321" cy="7804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4729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F3C8F-B663-0463-E887-B4CAFB680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1BB05AB8-E681-D36B-C2D6-65F979C00D96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E4B1B6C-6FD2-C4BD-4934-1D43C1B34C2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C7678B0-47B8-9FEA-CDAA-AD777BE4475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4E5F8F3-9610-6FE9-2AD2-C5BC8496E5E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A519059-48BB-77C4-E999-9DE30F423B7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823E162-8BED-FF78-C48A-780A25D8E9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2208" y="1605663"/>
            <a:ext cx="1105758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Modelo Cascata (</a:t>
            </a:r>
            <a:r>
              <a:rPr lang="pt-BR" sz="4950" b="1" spc="-15" dirty="0" err="1">
                <a:latin typeface="Montserrat ExtraBold"/>
                <a:cs typeface="Montserrat ExtraBold"/>
              </a:rPr>
              <a:t>WaterFall</a:t>
            </a:r>
            <a:r>
              <a:rPr lang="pt-BR" sz="4950" b="1" spc="-15" dirty="0">
                <a:latin typeface="Montserrat ExtraBold"/>
                <a:cs typeface="Montserrat ExtraBold"/>
              </a:rPr>
              <a:t>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62CE79D-FBBD-1F15-A0C0-4C1623434A09}"/>
              </a:ext>
            </a:extLst>
          </p:cNvPr>
          <p:cNvSpPr txBox="1"/>
          <p:nvPr/>
        </p:nvSpPr>
        <p:spPr>
          <a:xfrm>
            <a:off x="1526491" y="3063875"/>
            <a:ext cx="1691184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	O modelo </a:t>
            </a:r>
            <a:r>
              <a:rPr lang="pt-BR" sz="4000" b="1" dirty="0"/>
              <a:t>Cascata (</a:t>
            </a:r>
            <a:r>
              <a:rPr lang="pt-BR" sz="4000" b="1" dirty="0" err="1"/>
              <a:t>Waterfall</a:t>
            </a:r>
            <a:r>
              <a:rPr lang="pt-BR" sz="4000" b="1" dirty="0"/>
              <a:t>)</a:t>
            </a:r>
            <a:r>
              <a:rPr lang="pt-BR" sz="4000" dirty="0"/>
              <a:t> foi uma das primeiras abordagens formais para o desenvolvimento de software. Ele segue uma sequência linear e rígida, onde cada fase do projeto deve ser concluída antes de passar para a próxima. Esse modelo foi amplamente utilizado antes do surgimento das metodologias ágeis.</a:t>
            </a:r>
          </a:p>
        </p:txBody>
      </p:sp>
    </p:spTree>
    <p:extLst>
      <p:ext uri="{BB962C8B-B14F-4D97-AF65-F5344CB8AC3E}">
        <p14:creationId xmlns:p14="http://schemas.microsoft.com/office/powerpoint/2010/main" val="1231613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2FC6B-4A73-3666-DFCF-E153B3E7A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F0FCC871-585E-CBE6-5F4C-0DEF290EC008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05CEFCF-BB14-7A6F-CCF9-8D65540216A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3CDEF7E-A9DF-223A-6717-BD6E880A22A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4A4961C-7C03-F84F-5795-8A5F4E11D75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A2A5131-5932-902F-779D-252A6B81276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661CA753-A932-BF82-1E17-D7A6DDBF87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Como Funciona o Modelo Cascata?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9925B0-592C-2216-07C5-699A06B41D38}"/>
              </a:ext>
            </a:extLst>
          </p:cNvPr>
          <p:cNvSpPr txBox="1"/>
          <p:nvPr/>
        </p:nvSpPr>
        <p:spPr>
          <a:xfrm>
            <a:off x="1526491" y="3063875"/>
            <a:ext cx="1691184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1.	Requisitos 📄</a:t>
            </a:r>
          </a:p>
          <a:p>
            <a:endParaRPr lang="pt-BR" sz="40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000" dirty="0"/>
              <a:t>O cliente detalha tudo o que deseja no software.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000" dirty="0"/>
              <a:t>A documentação deve ser completa e aprovada antes de seguir adiante.</a:t>
            </a:r>
          </a:p>
          <a:p>
            <a:endParaRPr lang="pt-BR" sz="4000" dirty="0"/>
          </a:p>
          <a:p>
            <a:r>
              <a:rPr lang="pt-BR" sz="4000" b="1" dirty="0"/>
              <a:t>2.	Projeto (Design) 🎨</a:t>
            </a:r>
          </a:p>
          <a:p>
            <a:endParaRPr lang="pt-BR" sz="40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000" dirty="0"/>
              <a:t>A arquitetura do software é definida.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000" dirty="0"/>
              <a:t>Criam-se diagramas, estrutura do banco de dados e interfaces.</a:t>
            </a:r>
          </a:p>
        </p:txBody>
      </p:sp>
    </p:spTree>
    <p:extLst>
      <p:ext uri="{BB962C8B-B14F-4D97-AF65-F5344CB8AC3E}">
        <p14:creationId xmlns:p14="http://schemas.microsoft.com/office/powerpoint/2010/main" val="686446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7C067-CA2B-B294-BB72-A90B6730A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B9AC7368-65FC-D666-1B43-F5ADEEAAAE5F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4970F18-2220-EEFA-4553-743756CC9A85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D8FF2B9-234F-21E3-B113-8D383EF8996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8B68400-C50E-BDB7-43BB-9702DBA36A73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662E75F-2A31-0E53-A2D3-394976DBB973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80F478E-5C6D-A9FA-50B1-A9E9BB5394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Como Funciona o Modelo Cascata?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A4BBEFD-7C71-9E8A-992C-468098336C12}"/>
              </a:ext>
            </a:extLst>
          </p:cNvPr>
          <p:cNvSpPr txBox="1"/>
          <p:nvPr/>
        </p:nvSpPr>
        <p:spPr>
          <a:xfrm>
            <a:off x="1526491" y="3063875"/>
            <a:ext cx="16911842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3.	Implementação (Codificação) 💻</a:t>
            </a:r>
          </a:p>
          <a:p>
            <a:endParaRPr lang="pt-BR" sz="4000" b="1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000" dirty="0"/>
              <a:t>Os desenvolvedores programam o software conforme o design aprovado.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000" dirty="0"/>
              <a:t>Não há espaço para mudanças nos requisitos sem grande impacto.</a:t>
            </a:r>
          </a:p>
          <a:p>
            <a:endParaRPr lang="pt-BR" sz="4000" b="1" dirty="0"/>
          </a:p>
          <a:p>
            <a:r>
              <a:rPr lang="pt-BR" sz="4000" b="1" dirty="0"/>
              <a:t>4.	Testes ✅</a:t>
            </a:r>
          </a:p>
          <a:p>
            <a:endParaRPr lang="pt-BR" sz="4000" b="1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000" dirty="0"/>
              <a:t>Testes unitários, de integração e de sistema são realizados.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000" dirty="0"/>
              <a:t>Se houver falhas, é necessário revisar fases anteriores, aumentando os custos.</a:t>
            </a:r>
          </a:p>
        </p:txBody>
      </p:sp>
    </p:spTree>
    <p:extLst>
      <p:ext uri="{BB962C8B-B14F-4D97-AF65-F5344CB8AC3E}">
        <p14:creationId xmlns:p14="http://schemas.microsoft.com/office/powerpoint/2010/main" val="522915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947C6-A5ED-00EC-1E42-87316D19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39F112EA-9D64-DDBA-2503-E89C82F067A8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3B57AC0-8E6F-E446-5764-E80C747EC55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D3464B5-E20F-A9CD-21F8-2F2A03B1678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D60ABE4-7F6F-6541-1A87-FB587463D5E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27BA5B6-7E7A-A740-03A1-CC6B221F04C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F2EA1A3-BF06-7B84-A942-CC6A4FEB74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Como Funciona o Modelo Cascata?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203E36B-45EB-39A4-F2F3-5135F0B1C9FF}"/>
              </a:ext>
            </a:extLst>
          </p:cNvPr>
          <p:cNvSpPr txBox="1"/>
          <p:nvPr/>
        </p:nvSpPr>
        <p:spPr>
          <a:xfrm>
            <a:off x="1526491" y="3063875"/>
            <a:ext cx="16911842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5.	Implantação (</a:t>
            </a:r>
            <a:r>
              <a:rPr lang="pt-BR" sz="4000" b="1" dirty="0" err="1"/>
              <a:t>Deploy</a:t>
            </a:r>
            <a:r>
              <a:rPr lang="pt-BR" sz="4000" b="1" dirty="0"/>
              <a:t>) 🚀</a:t>
            </a:r>
          </a:p>
          <a:p>
            <a:endParaRPr lang="pt-BR" sz="4000" b="1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000" dirty="0"/>
              <a:t>O software é entregue ao cliente e colocado em produção.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000" dirty="0"/>
              <a:t>Normalmente, apenas nesse momento o usuário final começa a usar o sistema.</a:t>
            </a:r>
          </a:p>
          <a:p>
            <a:endParaRPr lang="pt-BR" sz="4000" b="1" dirty="0"/>
          </a:p>
          <a:p>
            <a:r>
              <a:rPr lang="pt-BR" sz="4000" b="1" dirty="0"/>
              <a:t>6.	Manutenção </a:t>
            </a:r>
            <a:r>
              <a:rPr lang="pt-BR" sz="4000" dirty="0"/>
              <a:t>🔧</a:t>
            </a:r>
          </a:p>
          <a:p>
            <a:endParaRPr lang="pt-BR" sz="4000" b="1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000" dirty="0"/>
              <a:t>Correção de erros e atualizações futuras.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000" dirty="0"/>
              <a:t>Como o modelo não prevê mudanças frequentes, qualquer ajuste pode ser caro e demorado.</a:t>
            </a:r>
          </a:p>
        </p:txBody>
      </p:sp>
    </p:spTree>
    <p:extLst>
      <p:ext uri="{BB962C8B-B14F-4D97-AF65-F5344CB8AC3E}">
        <p14:creationId xmlns:p14="http://schemas.microsoft.com/office/powerpoint/2010/main" val="2158512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C81CD-1BC1-3ED5-E61C-DBCC1CEE4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03CFEFFF-046F-217F-F2F0-A3664DDF00B8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5BB9D96-EF19-0EA1-F6A5-E895FA908B8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5764550-A5AF-8ADB-E5E1-317AB547C134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F4819F23-EC0B-4D5B-0906-4D71632088F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6382B19-FDE2-9769-06C0-AAC7EF43613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79E50031-66E6-2342-B848-C8D2EC7800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8876" y="1551492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Características do modelo Cascata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94B9DDE-EBCF-75EE-B9EF-5AB151064F53}"/>
              </a:ext>
            </a:extLst>
          </p:cNvPr>
          <p:cNvSpPr txBox="1"/>
          <p:nvPr/>
        </p:nvSpPr>
        <p:spPr>
          <a:xfrm>
            <a:off x="1526491" y="3063875"/>
            <a:ext cx="16911842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✅ Vantagens:</a:t>
            </a:r>
          </a:p>
          <a:p>
            <a:r>
              <a:rPr lang="pt-BR" sz="4000" dirty="0"/>
              <a:t>✔️ Simples e fácil de entender.</a:t>
            </a:r>
          </a:p>
          <a:p>
            <a:r>
              <a:rPr lang="pt-BR" sz="4000" dirty="0"/>
              <a:t>✔️ Bem documentado e organizado.</a:t>
            </a:r>
          </a:p>
          <a:p>
            <a:r>
              <a:rPr lang="pt-BR" sz="4000" dirty="0"/>
              <a:t>✔️ Funciona bem para projetos pequenos e com requisitos estáveis.</a:t>
            </a:r>
          </a:p>
          <a:p>
            <a:endParaRPr lang="pt-BR" sz="4000" dirty="0"/>
          </a:p>
          <a:p>
            <a:r>
              <a:rPr lang="pt-BR" sz="4000" b="1" dirty="0"/>
              <a:t>❌ Desvantagens:</a:t>
            </a:r>
          </a:p>
          <a:p>
            <a:r>
              <a:rPr lang="pt-BR" sz="4000" dirty="0"/>
              <a:t>❌ Rígido e difícil de adaptar a mudanças.</a:t>
            </a:r>
          </a:p>
          <a:p>
            <a:r>
              <a:rPr lang="pt-BR" sz="4000" dirty="0"/>
              <a:t>❌ O cliente só vê o produto final na última etapa.</a:t>
            </a:r>
          </a:p>
          <a:p>
            <a:r>
              <a:rPr lang="pt-BR" sz="4000" dirty="0"/>
              <a:t>❌ Problemas detectados tardiamente podem ser caros para corrigir.</a:t>
            </a:r>
          </a:p>
          <a:p>
            <a:r>
              <a:rPr lang="pt-BR" sz="4000" dirty="0"/>
              <a:t>❌ Alto risco de falha caso os requisitos iniciais não sejam bem definidos.</a:t>
            </a:r>
          </a:p>
        </p:txBody>
      </p:sp>
    </p:spTree>
    <p:extLst>
      <p:ext uri="{BB962C8B-B14F-4D97-AF65-F5344CB8AC3E}">
        <p14:creationId xmlns:p14="http://schemas.microsoft.com/office/powerpoint/2010/main" val="1541960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660F7-C59A-05E2-7170-27004E8A4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B255F356-C7DF-6D68-86C0-C0E68BC18C17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625F701-2550-82FE-9EBE-2FB4F8FB2D6D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48CAD35-9BCA-2DB0-C6AE-47A923AE7EF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93C0423-C265-AFB1-B9E4-3DF09FB2777A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2107D09-59B6-F1A9-D173-D567FC52F557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217E7466-01CC-8C67-07ED-43AD46CDF9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105314"/>
            <a:ext cx="13582372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Por Que o Modelo Cascata Foi Substituído?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D99AE9B-BD98-E106-36E9-CF87B41998C4}"/>
              </a:ext>
            </a:extLst>
          </p:cNvPr>
          <p:cNvSpPr txBox="1"/>
          <p:nvPr/>
        </p:nvSpPr>
        <p:spPr>
          <a:xfrm>
            <a:off x="1526491" y="3063875"/>
            <a:ext cx="1691184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Com o tempo, percebeu-se que mudanças ocorrem com frequência nos projetos de software.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O Cascata funciona bem em projetos onde tudo já está 100% definido, mas em ambientes dinâmicos ele se torna ineficaz.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As metodologias ágeis surgiram para resolver esses problemas, permitindo maior flexibilidade e entregas mais rápidas.</a:t>
            </a:r>
          </a:p>
        </p:txBody>
      </p:sp>
    </p:spTree>
    <p:extLst>
      <p:ext uri="{BB962C8B-B14F-4D97-AF65-F5344CB8AC3E}">
        <p14:creationId xmlns:p14="http://schemas.microsoft.com/office/powerpoint/2010/main" val="2497072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B27FF-95ED-EEF4-0F35-8BE57AEE3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EF6E9EB6-4E7A-9DE4-88DE-6A9DD31D842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EA14345-AF04-9AD7-E9C7-810F45DC3DB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58BDB85-CBF3-9581-CB80-619EC3346A43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F542D3C-023B-644D-11E2-CF9587E30360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698A7AB-CEF6-5A3D-E7C1-EC273532FE16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122" name="Picture 2" descr="Manifesto Ágil: A verdadeira história descrita nos detalhes">
            <a:extLst>
              <a:ext uri="{FF2B5EF4-FFF2-40B4-BE49-F238E27FC236}">
                <a16:creationId xmlns:a16="http://schemas.microsoft.com/office/drawing/2014/main" id="{9D2082A8-C356-AA41-12EB-FE12102120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9128" y="1988553"/>
            <a:ext cx="13925841" cy="782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D642CEE2-6FDE-C765-DDEB-1ABE1D732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464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5" name="object 5"/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>
            <a:spLocks noGrp="1"/>
          </p:cNvSpPr>
          <p:nvPr>
            <p:ph type="title"/>
          </p:nvPr>
        </p:nvSpPr>
        <p:spPr>
          <a:xfrm>
            <a:off x="1509065" y="1517820"/>
            <a:ext cx="10328275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Manifesto ágil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7BF337F2-7F98-AF1F-6D3B-EEC29D33AC7C}"/>
              </a:ext>
            </a:extLst>
          </p:cNvPr>
          <p:cNvSpPr txBox="1"/>
          <p:nvPr/>
        </p:nvSpPr>
        <p:spPr>
          <a:xfrm>
            <a:off x="1509065" y="3597275"/>
            <a:ext cx="1697204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</a:t>
            </a:r>
            <a:r>
              <a:rPr lang="pt-BR" sz="4000" b="1" dirty="0"/>
              <a:t>Manifesto Ágil</a:t>
            </a:r>
            <a:r>
              <a:rPr lang="pt-BR" sz="4000" dirty="0"/>
              <a:t> é um conjunto de valores e princípios que guiam o desenvolvimento ágil de software. Ele foi criado em </a:t>
            </a:r>
            <a:r>
              <a:rPr lang="pt-BR" sz="4000" b="1" dirty="0"/>
              <a:t>2001</a:t>
            </a:r>
            <a:r>
              <a:rPr lang="pt-BR" sz="4000" dirty="0"/>
              <a:t>, por um grupo de 17 desenvolvedores e especialistas em tecnologia, que buscavam uma abordagem mais flexível e eficiente para gerenciar projetos de software, em oposição ao tradicional modelo </a:t>
            </a:r>
            <a:r>
              <a:rPr lang="pt-BR" sz="4000" b="1" dirty="0"/>
              <a:t>Cascata (</a:t>
            </a:r>
            <a:r>
              <a:rPr lang="pt-BR" sz="4000" b="1" dirty="0" err="1"/>
              <a:t>Waterfall</a:t>
            </a:r>
            <a:r>
              <a:rPr lang="pt-BR" sz="4000" b="1" dirty="0"/>
              <a:t>)</a:t>
            </a:r>
            <a:r>
              <a:rPr lang="pt-BR" sz="4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624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/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EFF4150-3D0A-1468-00C6-3D2FDA5C881A}"/>
              </a:ext>
            </a:extLst>
          </p:cNvPr>
          <p:cNvSpPr txBox="1"/>
          <p:nvPr/>
        </p:nvSpPr>
        <p:spPr>
          <a:xfrm>
            <a:off x="1522208" y="3454072"/>
            <a:ext cx="1523544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1.	Indivíduos e interações mais do que processos e ferramentas.</a:t>
            </a:r>
          </a:p>
          <a:p>
            <a:endParaRPr lang="pt-BR" sz="40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000" dirty="0"/>
              <a:t>Pessoas comunicando e colaborando são mais importantes do que apenas seguir um processo rígido.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r>
              <a:rPr lang="pt-BR" sz="4000" b="1" dirty="0"/>
              <a:t>2.	Software funcionando mais do que documentação abrangente.</a:t>
            </a:r>
          </a:p>
          <a:p>
            <a:endParaRPr lang="pt-BR" sz="40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000" dirty="0"/>
              <a:t>A entrega de software que realmente funciona é mais valiosa do que uma documentação extensa e burocrática.</a:t>
            </a:r>
          </a:p>
        </p:txBody>
      </p:sp>
      <p:sp>
        <p:nvSpPr>
          <p:cNvPr id="11" name="object 71">
            <a:extLst>
              <a:ext uri="{FF2B5EF4-FFF2-40B4-BE49-F238E27FC236}">
                <a16:creationId xmlns:a16="http://schemas.microsoft.com/office/drawing/2014/main" id="{46E903C9-0F0F-33AA-219E-5BF49AFE627C}"/>
              </a:ext>
            </a:extLst>
          </p:cNvPr>
          <p:cNvSpPr txBox="1">
            <a:spLocks/>
          </p:cNvSpPr>
          <p:nvPr/>
        </p:nvSpPr>
        <p:spPr>
          <a:xfrm>
            <a:off x="1509065" y="1517820"/>
            <a:ext cx="10328275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Os 4 Valores do Manifesto Ágil</a:t>
            </a:r>
          </a:p>
        </p:txBody>
      </p:sp>
    </p:spTree>
    <p:extLst>
      <p:ext uri="{BB962C8B-B14F-4D97-AF65-F5344CB8AC3E}">
        <p14:creationId xmlns:p14="http://schemas.microsoft.com/office/powerpoint/2010/main" val="1364175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8BD3D-99AB-C7D1-363B-F64726B5A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2B4CF180-56D8-E45C-8BA2-2AF94435F8ED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39852F5-E96C-752C-3169-AFF760356261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4953769-848B-E217-B897-1CDFF883BDE3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61F4777-31CB-770E-B9F9-68D42911576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27A0592-4F44-033C-A1E9-A20DD25B63D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5B97CDB-D9B7-7CC9-05EC-0B121CB5E04D}"/>
              </a:ext>
            </a:extLst>
          </p:cNvPr>
          <p:cNvSpPr txBox="1"/>
          <p:nvPr/>
        </p:nvSpPr>
        <p:spPr>
          <a:xfrm>
            <a:off x="1522208" y="3454072"/>
            <a:ext cx="1523544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3.	Colaboração com o cliente mais do que negociação de contratos.</a:t>
            </a:r>
          </a:p>
          <a:p>
            <a:endParaRPr lang="pt-BR" sz="40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000" dirty="0"/>
              <a:t>Envolver o cliente no processo, com feedback contínuo, é mais eficaz do que apenas seguir um contrato fechado.</a:t>
            </a:r>
          </a:p>
          <a:p>
            <a:endParaRPr lang="pt-BR" sz="4000" dirty="0"/>
          </a:p>
          <a:p>
            <a:r>
              <a:rPr lang="pt-BR" sz="4000" b="1" dirty="0"/>
              <a:t>4.	Responder a mudanças mais do que seguir um plano.</a:t>
            </a:r>
          </a:p>
          <a:p>
            <a:endParaRPr lang="pt-BR" sz="40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000" dirty="0"/>
              <a:t>O desenvolvimento deve ser adaptável, respondendo a mudanças em vez de seguir um plano fixo.</a:t>
            </a:r>
          </a:p>
        </p:txBody>
      </p:sp>
      <p:sp>
        <p:nvSpPr>
          <p:cNvPr id="11" name="object 71">
            <a:extLst>
              <a:ext uri="{FF2B5EF4-FFF2-40B4-BE49-F238E27FC236}">
                <a16:creationId xmlns:a16="http://schemas.microsoft.com/office/drawing/2014/main" id="{2EC213A6-78DD-F0ED-0BE9-16802F9F8DDA}"/>
              </a:ext>
            </a:extLst>
          </p:cNvPr>
          <p:cNvSpPr txBox="1">
            <a:spLocks/>
          </p:cNvSpPr>
          <p:nvPr/>
        </p:nvSpPr>
        <p:spPr>
          <a:xfrm>
            <a:off x="1509065" y="1517820"/>
            <a:ext cx="10328275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Os 4 Valores do Manifesto Ágil</a:t>
            </a:r>
          </a:p>
        </p:txBody>
      </p:sp>
    </p:spTree>
    <p:extLst>
      <p:ext uri="{BB962C8B-B14F-4D97-AF65-F5344CB8AC3E}">
        <p14:creationId xmlns:p14="http://schemas.microsoft.com/office/powerpoint/2010/main" val="189581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5" name="object 5"/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AA5A6B5-BC37-9FC3-E6F8-57FEA373DC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5177" y="2212809"/>
            <a:ext cx="14033745" cy="7354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3452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6047D-D663-CBE3-C98C-A36803809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10DFCBF6-E24B-6130-6A9D-79CF51DA4F28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F1DF3DC-D7DC-7224-52B5-81413ECA28EE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D749CB9-47A6-4D91-751B-C378571A4CCC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438B7E94-FFC8-95EB-58BB-28993BEB033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889C96-77B5-411A-E1EC-0396928FE5C0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E1FA1DCD-2B2C-EF97-B6BD-BD72465A55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850" y="2499052"/>
            <a:ext cx="13512800" cy="760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111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688B4-E4AA-0689-4C92-171D2FE23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8AB718EC-6660-C7F9-CD75-3A4B1FE98127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EE4B73F-A61B-93A8-CF75-031CD4A2C8D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D17CB52-A3A2-9117-4CB9-463A13CFC624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A4148C2-48D5-3464-4666-4ED47E70C7D3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BD68180-1AAE-3801-830C-EFA7EC04759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229B01-F490-7989-0DBA-79DF5452FDCF}"/>
              </a:ext>
            </a:extLst>
          </p:cNvPr>
          <p:cNvSpPr txBox="1"/>
          <p:nvPr/>
        </p:nvSpPr>
        <p:spPr>
          <a:xfrm>
            <a:off x="1522208" y="3454072"/>
            <a:ext cx="1645464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</a:t>
            </a:r>
            <a:r>
              <a:rPr lang="pt-BR" sz="4000" b="1" dirty="0"/>
              <a:t>Scrum</a:t>
            </a:r>
            <a:r>
              <a:rPr lang="pt-BR" sz="4000" dirty="0"/>
              <a:t> é um dos frameworks ágeis mais populares para </a:t>
            </a:r>
            <a:r>
              <a:rPr lang="pt-BR" sz="4000" b="1" dirty="0"/>
              <a:t>gerenciamento de projetos</a:t>
            </a:r>
            <a:r>
              <a:rPr lang="pt-BR" sz="4000" dirty="0"/>
              <a:t>, especialmente no desenvolvimento de software. Ele permite que equipes trabalhem de forma colaborativa, entregando valor ao cliente de maneira </a:t>
            </a:r>
            <a:r>
              <a:rPr lang="pt-BR" sz="4000" b="1" dirty="0"/>
              <a:t>iterativa e incremental.</a:t>
            </a:r>
          </a:p>
          <a:p>
            <a:endParaRPr lang="pt-BR" sz="4000" dirty="0"/>
          </a:p>
          <a:p>
            <a:r>
              <a:rPr lang="pt-BR" sz="4000" dirty="0"/>
              <a:t>Diferente do modelo </a:t>
            </a:r>
            <a:r>
              <a:rPr lang="pt-BR" sz="4000" b="1" dirty="0"/>
              <a:t>Cascata</a:t>
            </a:r>
            <a:r>
              <a:rPr lang="pt-BR" sz="4000" dirty="0"/>
              <a:t>, onde o projeto é planejado do início ao fim antes da implementação, o </a:t>
            </a:r>
            <a:r>
              <a:rPr lang="pt-BR" sz="4000" b="1" dirty="0"/>
              <a:t>Scrum divide o trabalho em ciclos curtos</a:t>
            </a:r>
            <a:r>
              <a:rPr lang="pt-BR" sz="4000" dirty="0"/>
              <a:t>, chamados de Sprints, permitindo ajustes constantes com base no feedback do cliente.</a:t>
            </a:r>
          </a:p>
        </p:txBody>
      </p:sp>
      <p:sp>
        <p:nvSpPr>
          <p:cNvPr id="11" name="object 71">
            <a:extLst>
              <a:ext uri="{FF2B5EF4-FFF2-40B4-BE49-F238E27FC236}">
                <a16:creationId xmlns:a16="http://schemas.microsoft.com/office/drawing/2014/main" id="{FD871FF6-59E7-AF05-D563-FAC976F545C9}"/>
              </a:ext>
            </a:extLst>
          </p:cNvPr>
          <p:cNvSpPr txBox="1">
            <a:spLocks/>
          </p:cNvSpPr>
          <p:nvPr/>
        </p:nvSpPr>
        <p:spPr>
          <a:xfrm>
            <a:off x="1419423" y="1105314"/>
            <a:ext cx="13572184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Scrum: A Metodologia Ágil Mais Utilizada 🚀</a:t>
            </a:r>
          </a:p>
        </p:txBody>
      </p:sp>
    </p:spTree>
    <p:extLst>
      <p:ext uri="{BB962C8B-B14F-4D97-AF65-F5344CB8AC3E}">
        <p14:creationId xmlns:p14="http://schemas.microsoft.com/office/powerpoint/2010/main" val="11829363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9D2DA-61E6-43E4-BD20-9BDF34CD5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9D925451-8535-9CE3-4EDA-AF79562CF2E9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527DDD3-1EFF-A13E-D23A-9FAD1FA7164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2172CEF-05CF-F24A-84A4-21C093CFAE6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3168B0F-EEF7-3724-B4BF-C89E01465BE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5BE998C-CF74-0CA9-EE35-3D9FE5EE76D3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624FA66-4FF1-C177-E8E1-6C5C500271BA}"/>
              </a:ext>
            </a:extLst>
          </p:cNvPr>
          <p:cNvSpPr txBox="1"/>
          <p:nvPr/>
        </p:nvSpPr>
        <p:spPr>
          <a:xfrm>
            <a:off x="1522208" y="3454072"/>
            <a:ext cx="1645464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b="1" dirty="0" err="1"/>
              <a:t>Product</a:t>
            </a:r>
            <a:r>
              <a:rPr lang="pt-BR" sz="4000" b="1" dirty="0"/>
              <a:t> </a:t>
            </a:r>
            <a:r>
              <a:rPr lang="pt-BR" sz="4000" b="1" dirty="0" err="1"/>
              <a:t>Owner</a:t>
            </a:r>
            <a:r>
              <a:rPr lang="pt-BR" sz="4000" b="1" dirty="0"/>
              <a:t> (PO)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000" dirty="0"/>
              <a:t>Representa o cliente e define as prioridades do produto.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000" dirty="0"/>
              <a:t>Garante que o time esteja focado em entregar o máximo de valor possível.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000" dirty="0"/>
              <a:t>Mantém e prioriza o </a:t>
            </a:r>
            <a:r>
              <a:rPr lang="pt-BR" sz="4000" dirty="0" err="1"/>
              <a:t>Product</a:t>
            </a:r>
            <a:r>
              <a:rPr lang="pt-BR" sz="4000" dirty="0"/>
              <a:t> Backlog (lista de tarefas do produto).</a:t>
            </a:r>
          </a:p>
        </p:txBody>
      </p:sp>
      <p:sp>
        <p:nvSpPr>
          <p:cNvPr id="11" name="object 71">
            <a:extLst>
              <a:ext uri="{FF2B5EF4-FFF2-40B4-BE49-F238E27FC236}">
                <a16:creationId xmlns:a16="http://schemas.microsoft.com/office/drawing/2014/main" id="{45C9106F-C0D4-CCB4-D88D-A1F4A361A38D}"/>
              </a:ext>
            </a:extLst>
          </p:cNvPr>
          <p:cNvSpPr txBox="1">
            <a:spLocks/>
          </p:cNvSpPr>
          <p:nvPr/>
        </p:nvSpPr>
        <p:spPr>
          <a:xfrm>
            <a:off x="1289050" y="1483623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Time Scrum (Papéis e Responsabilidades) </a:t>
            </a:r>
          </a:p>
        </p:txBody>
      </p:sp>
    </p:spTree>
    <p:extLst>
      <p:ext uri="{BB962C8B-B14F-4D97-AF65-F5344CB8AC3E}">
        <p14:creationId xmlns:p14="http://schemas.microsoft.com/office/powerpoint/2010/main" val="3876855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6FFB6-48D9-59B3-4C13-FF636CAAD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EE82E0A1-315F-C7FA-DCE1-F973A299CD1B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19C14C4-DF89-5AAC-9821-CC56C7E9AEE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CC1959A-2705-9A4E-33A2-F93AEB40CCFA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16E6BE5-F88A-3EEF-159E-B7054F89B5A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904840E-9412-A6DD-DC9E-7795728C3CA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170" name="Picture 2" descr="O papel do Product Owner no Desenvolvimento de Software | Blog UDS">
            <a:extLst>
              <a:ext uri="{FF2B5EF4-FFF2-40B4-BE49-F238E27FC236}">
                <a16:creationId xmlns:a16="http://schemas.microsoft.com/office/drawing/2014/main" id="{35CB6C24-C034-406D-74D6-E1472C4D2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8340" y="763587"/>
            <a:ext cx="9782175" cy="978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3252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078FC-04D4-7938-555C-ED459E2D2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21B3B60C-02C4-D62D-FEA0-F2AF44FD17C3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B2E6196-4F7D-B6FD-E448-385F615F167D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8FE6540-4057-43D4-6C09-C14FEB382359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E846421-436F-9588-00DC-12CF57F1B001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E9CAA90-AFAD-949C-94F5-98490B1C5BF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4E2B2F8-BD5F-65EC-4DF0-5A0BF3396104}"/>
              </a:ext>
            </a:extLst>
          </p:cNvPr>
          <p:cNvSpPr txBox="1"/>
          <p:nvPr/>
        </p:nvSpPr>
        <p:spPr>
          <a:xfrm>
            <a:off x="1522208" y="3454072"/>
            <a:ext cx="1645464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b="1" dirty="0"/>
              <a:t>Scrum Master (SM)</a:t>
            </a:r>
            <a:endParaRPr lang="pt-BR" sz="40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000" dirty="0"/>
              <a:t>Atua como um facilitador do processo Scrum.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000" dirty="0"/>
              <a:t>Remove obstáculos que impedem o progresso do time.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000" dirty="0"/>
              <a:t>Garante que os princípios do Scrum sejam seguidos.</a:t>
            </a:r>
          </a:p>
        </p:txBody>
      </p:sp>
      <p:sp>
        <p:nvSpPr>
          <p:cNvPr id="11" name="object 71">
            <a:extLst>
              <a:ext uri="{FF2B5EF4-FFF2-40B4-BE49-F238E27FC236}">
                <a16:creationId xmlns:a16="http://schemas.microsoft.com/office/drawing/2014/main" id="{60A62CF8-25FE-A33E-D855-292A565117B5}"/>
              </a:ext>
            </a:extLst>
          </p:cNvPr>
          <p:cNvSpPr txBox="1">
            <a:spLocks/>
          </p:cNvSpPr>
          <p:nvPr/>
        </p:nvSpPr>
        <p:spPr>
          <a:xfrm>
            <a:off x="1289050" y="1483623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Time Scrum (Papéis e Responsabilidades) </a:t>
            </a:r>
          </a:p>
        </p:txBody>
      </p:sp>
    </p:spTree>
    <p:extLst>
      <p:ext uri="{BB962C8B-B14F-4D97-AF65-F5344CB8AC3E}">
        <p14:creationId xmlns:p14="http://schemas.microsoft.com/office/powerpoint/2010/main" val="30728455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1FEB6-CF4C-9A23-D712-4AD796261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4C8956D4-62C0-14B1-8447-BF8AFB8F98A4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C1780AB-C858-29DB-9F8D-57089E04596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8BBCB80-20E8-1D92-1CD9-16BC4E9CBE2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515CFB0-A72C-62E5-C05C-97F18DC26FA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20739CB-7773-1D66-3EA1-781F28D7BC07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194" name="Picture 2" descr="▷ Scrum Master vs Project Manager: quais as diferenças">
            <a:extLst>
              <a:ext uri="{FF2B5EF4-FFF2-40B4-BE49-F238E27FC236}">
                <a16:creationId xmlns:a16="http://schemas.microsoft.com/office/drawing/2014/main" id="{6116725E-9CE1-7C22-BD42-30DEEB604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0650" y="2206625"/>
            <a:ext cx="13792200" cy="689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30286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DFBC1-6407-7150-65C8-DF0DA7F97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FB47B8F1-6CB6-757A-7EBC-831B2A24B8B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1C8EFFA-5E48-6D16-2026-A82A84F2E4A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A7DF44D-E483-3DC3-29AF-5FA0E00B46EB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AC48561-A524-910D-2887-38726E98B0E7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8E9396F-222B-0DF3-4F2B-FAC588EE26F9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4666EC9-D85D-C971-1357-C0D99F0BDC57}"/>
              </a:ext>
            </a:extLst>
          </p:cNvPr>
          <p:cNvSpPr txBox="1"/>
          <p:nvPr/>
        </p:nvSpPr>
        <p:spPr>
          <a:xfrm>
            <a:off x="1522208" y="3454072"/>
            <a:ext cx="1645464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b="1" dirty="0"/>
              <a:t>Time de Desenvolvimento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000" dirty="0"/>
              <a:t>Equipe multidisciplinar responsável por transformar as tarefas em incrementos funcionais.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000" dirty="0"/>
              <a:t>Inclui desenvolvedores, designers, testadores e outros profissionais.</a:t>
            </a:r>
          </a:p>
        </p:txBody>
      </p:sp>
      <p:sp>
        <p:nvSpPr>
          <p:cNvPr id="11" name="object 71">
            <a:extLst>
              <a:ext uri="{FF2B5EF4-FFF2-40B4-BE49-F238E27FC236}">
                <a16:creationId xmlns:a16="http://schemas.microsoft.com/office/drawing/2014/main" id="{A69C7967-E01C-FDEF-8E18-D5744E309BE0}"/>
              </a:ext>
            </a:extLst>
          </p:cNvPr>
          <p:cNvSpPr txBox="1">
            <a:spLocks/>
          </p:cNvSpPr>
          <p:nvPr/>
        </p:nvSpPr>
        <p:spPr>
          <a:xfrm>
            <a:off x="1289050" y="1483623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Time Scrum (Papéis e Responsabilidades) </a:t>
            </a:r>
          </a:p>
        </p:txBody>
      </p:sp>
    </p:spTree>
    <p:extLst>
      <p:ext uri="{BB962C8B-B14F-4D97-AF65-F5344CB8AC3E}">
        <p14:creationId xmlns:p14="http://schemas.microsoft.com/office/powerpoint/2010/main" val="1961213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D5486-4EB0-3187-A354-5CCF89383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91978FFA-4D7B-175A-C456-CE15224073CA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2EA4EE0-94F6-30A0-D058-7E5AFE677D25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3F4CC30-CC0C-1EA6-5D5D-EBBE1F63FCDA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E351922-FA5A-D44A-CB32-95493A28151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852D752-47A1-A2CC-7136-B65F8E9AC09C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242" name="Picture 2" descr="Quais são as principais funções, responsabilidades e preocupações da equipe  de desenvolvimento no Ciclo de Vida do Desenvolvimento de Software (SDLC) -  Ubiminds">
            <a:extLst>
              <a:ext uri="{FF2B5EF4-FFF2-40B4-BE49-F238E27FC236}">
                <a16:creationId xmlns:a16="http://schemas.microsoft.com/office/drawing/2014/main" id="{12E8C1B7-D541-D6D4-A068-2A9AB5EE2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2050" y="1844675"/>
            <a:ext cx="7620000" cy="76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91118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474F4-747B-E255-3257-22DE9F65C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AFF1A284-E11C-21B9-A708-7911598BDDDE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EF98893-5E34-BD9E-CBDD-72E447D9D21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72AFF06-EEFC-F242-7CEE-4D939175A574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8B8E869-F877-C3EF-120B-E6FC44ADB607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923B44D-6888-C314-7328-30DFF77A3C62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2A1BB64-89A3-76D6-B114-7AA93941E4AA}"/>
              </a:ext>
            </a:extLst>
          </p:cNvPr>
          <p:cNvSpPr txBox="1"/>
          <p:nvPr/>
        </p:nvSpPr>
        <p:spPr>
          <a:xfrm>
            <a:off x="1365250" y="2699517"/>
            <a:ext cx="16454642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📌 </a:t>
            </a:r>
            <a:r>
              <a:rPr lang="pt-BR" sz="4000" b="1" dirty="0" err="1"/>
              <a:t>Product</a:t>
            </a:r>
            <a:r>
              <a:rPr lang="pt-BR" sz="4000" b="1" dirty="0"/>
              <a:t> Backlog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Lista priorizada com todas as funcionalidades desejadas para o produto.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O </a:t>
            </a:r>
            <a:r>
              <a:rPr lang="pt-BR" sz="4000" b="1" dirty="0" err="1"/>
              <a:t>Product</a:t>
            </a:r>
            <a:r>
              <a:rPr lang="pt-BR" sz="4000" b="1" dirty="0"/>
              <a:t> </a:t>
            </a:r>
            <a:r>
              <a:rPr lang="pt-BR" sz="4000" b="1" dirty="0" err="1"/>
              <a:t>Owner</a:t>
            </a:r>
            <a:r>
              <a:rPr lang="pt-BR" sz="4000" b="1" dirty="0"/>
              <a:t> </a:t>
            </a:r>
            <a:r>
              <a:rPr lang="pt-BR" sz="4000" dirty="0"/>
              <a:t>é responsável por gerenciá-lo.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r>
              <a:rPr lang="pt-BR" sz="4000" dirty="0"/>
              <a:t>📌 </a:t>
            </a:r>
            <a:r>
              <a:rPr lang="pt-BR" sz="4000" b="1" dirty="0"/>
              <a:t>Sprint Backlog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Conjunto de tarefas selecionadas do </a:t>
            </a:r>
            <a:r>
              <a:rPr lang="pt-BR" sz="4000" dirty="0" err="1"/>
              <a:t>Product</a:t>
            </a:r>
            <a:r>
              <a:rPr lang="pt-BR" sz="4000" dirty="0"/>
              <a:t> Backlog para serem desenvolvidas na Sprint.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Criado pelo Time de Desenvolvimento durante o </a:t>
            </a:r>
            <a:r>
              <a:rPr lang="pt-BR" sz="4000" b="1" dirty="0"/>
              <a:t>Sprint Planning</a:t>
            </a:r>
            <a:r>
              <a:rPr lang="pt-BR" sz="4000" dirty="0"/>
              <a:t>.</a:t>
            </a:r>
          </a:p>
          <a:p>
            <a:endParaRPr lang="pt-BR" sz="4000" dirty="0"/>
          </a:p>
          <a:p>
            <a:r>
              <a:rPr lang="pt-BR" sz="4000" dirty="0"/>
              <a:t>📌</a:t>
            </a:r>
            <a:r>
              <a:rPr lang="pt-BR" sz="4000" b="1" dirty="0"/>
              <a:t> Incremento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Entrega de um conjunto de funcionalidades ao final de cada Sprint.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Deve estar funcionando e pronto para ser testado ou usado pelo cliente.</a:t>
            </a:r>
          </a:p>
        </p:txBody>
      </p:sp>
      <p:sp>
        <p:nvSpPr>
          <p:cNvPr id="11" name="object 71">
            <a:extLst>
              <a:ext uri="{FF2B5EF4-FFF2-40B4-BE49-F238E27FC236}">
                <a16:creationId xmlns:a16="http://schemas.microsoft.com/office/drawing/2014/main" id="{3394589C-E490-729C-27B0-3B88626F83CE}"/>
              </a:ext>
            </a:extLst>
          </p:cNvPr>
          <p:cNvSpPr txBox="1">
            <a:spLocks/>
          </p:cNvSpPr>
          <p:nvPr/>
        </p:nvSpPr>
        <p:spPr>
          <a:xfrm>
            <a:off x="1365250" y="1483623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Artefatos do Scrum 📂</a:t>
            </a:r>
          </a:p>
        </p:txBody>
      </p:sp>
    </p:spTree>
    <p:extLst>
      <p:ext uri="{BB962C8B-B14F-4D97-AF65-F5344CB8AC3E}">
        <p14:creationId xmlns:p14="http://schemas.microsoft.com/office/powerpoint/2010/main" val="12858511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34073-A750-4DAD-EB63-6B19F5B06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E954385-E7F7-7771-34C0-DA2D7C44272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6077A3F-BC93-2971-F858-D5F2BA0E8D34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746862C-103B-8528-3525-71A32033739C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B27574E1-4CB0-1770-9422-8843BD12FC5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8EAF274-AB0B-E935-A625-8B6513C7CF3E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BC96811-BDF4-F75D-4306-6720EB571DBB}"/>
              </a:ext>
            </a:extLst>
          </p:cNvPr>
          <p:cNvSpPr txBox="1"/>
          <p:nvPr/>
        </p:nvSpPr>
        <p:spPr>
          <a:xfrm>
            <a:off x="1365250" y="3216275"/>
            <a:ext cx="16454642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Scrum é baseado em ciclos de desenvolvimento chamados </a:t>
            </a:r>
            <a:r>
              <a:rPr lang="pt-BR" sz="4000" b="1" dirty="0"/>
              <a:t>Sprints</a:t>
            </a:r>
            <a:r>
              <a:rPr lang="pt-BR" sz="4000" dirty="0"/>
              <a:t>, que duram </a:t>
            </a:r>
            <a:r>
              <a:rPr lang="pt-BR" sz="4000" b="1" dirty="0"/>
              <a:t>1 a 4 semanas</a:t>
            </a:r>
            <a:r>
              <a:rPr lang="pt-BR" sz="4000" dirty="0"/>
              <a:t>. Durante esse período, o time segue um conjunto de eventos estruturados:</a:t>
            </a:r>
          </a:p>
          <a:p>
            <a:endParaRPr lang="pt-BR" sz="4000" dirty="0"/>
          </a:p>
          <a:p>
            <a:endParaRPr lang="pt-BR" sz="4000" dirty="0"/>
          </a:p>
          <a:p>
            <a:r>
              <a:rPr lang="pt-BR" sz="4000" dirty="0"/>
              <a:t>1️⃣ </a:t>
            </a:r>
            <a:r>
              <a:rPr lang="pt-BR" sz="4000" b="1" dirty="0"/>
              <a:t>Sprint Planning (Planejamento da Sprint)</a:t>
            </a:r>
          </a:p>
          <a:p>
            <a:endParaRPr lang="pt-BR" sz="4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pt-BR" sz="4000" dirty="0"/>
              <a:t>Reunião para definir quais tarefas do </a:t>
            </a:r>
            <a:r>
              <a:rPr lang="pt-BR" sz="4000" b="1" dirty="0" err="1"/>
              <a:t>Product</a:t>
            </a:r>
            <a:r>
              <a:rPr lang="pt-BR" sz="4000" b="1" dirty="0"/>
              <a:t> Backlog</a:t>
            </a:r>
            <a:r>
              <a:rPr lang="pt-BR" sz="4000" dirty="0"/>
              <a:t> serão desenvolvidas na Sprint.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4000" dirty="0"/>
              <a:t>O Time de Desenvolvimento estima o esforço necessário para cada tarefa.</a:t>
            </a:r>
          </a:p>
        </p:txBody>
      </p:sp>
      <p:sp>
        <p:nvSpPr>
          <p:cNvPr id="11" name="object 71">
            <a:extLst>
              <a:ext uri="{FF2B5EF4-FFF2-40B4-BE49-F238E27FC236}">
                <a16:creationId xmlns:a16="http://schemas.microsoft.com/office/drawing/2014/main" id="{A0FACF6B-5B54-6FB6-7830-86BBB886FE07}"/>
              </a:ext>
            </a:extLst>
          </p:cNvPr>
          <p:cNvSpPr txBox="1">
            <a:spLocks/>
          </p:cNvSpPr>
          <p:nvPr/>
        </p:nvSpPr>
        <p:spPr>
          <a:xfrm>
            <a:off x="1365250" y="1483623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 Eventos do Scrum 📅</a:t>
            </a:r>
          </a:p>
        </p:txBody>
      </p:sp>
    </p:spTree>
    <p:extLst>
      <p:ext uri="{BB962C8B-B14F-4D97-AF65-F5344CB8AC3E}">
        <p14:creationId xmlns:p14="http://schemas.microsoft.com/office/powerpoint/2010/main" val="14225912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CB03D-545E-095F-29D4-731F74EF4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554B6008-C617-A95F-D725-3EB08E036CE9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54E6487-D9AE-156C-B41E-BA3506DF867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F7C0A8A-BC37-0D84-8DC2-DBC95609E6CC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AC6A97F-5060-792F-A778-D4F173FBCB07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E85BB7D-0EC8-D187-C774-ECD3B5BAA6D7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DA180A3-1F91-55D5-9643-70B751FF3B48}"/>
              </a:ext>
            </a:extLst>
          </p:cNvPr>
          <p:cNvSpPr txBox="1"/>
          <p:nvPr/>
        </p:nvSpPr>
        <p:spPr>
          <a:xfrm>
            <a:off x="1365250" y="3216275"/>
            <a:ext cx="1645464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2️⃣ Daily Scrum (Reunião Diária)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Reunião curta (</a:t>
            </a:r>
            <a:r>
              <a:rPr lang="pt-BR" sz="4000" b="1" dirty="0"/>
              <a:t>máximo de 15 minutos</a:t>
            </a:r>
            <a:r>
              <a:rPr lang="pt-BR" sz="4000" dirty="0"/>
              <a:t>) para alinhar o progresso.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Cada membro responde três perguntas: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000" dirty="0"/>
              <a:t>O que fiz ontem?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000" dirty="0"/>
              <a:t>O que farei hoje?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000" dirty="0"/>
              <a:t>Existe algum impedimento?</a:t>
            </a:r>
          </a:p>
        </p:txBody>
      </p:sp>
      <p:sp>
        <p:nvSpPr>
          <p:cNvPr id="11" name="object 71">
            <a:extLst>
              <a:ext uri="{FF2B5EF4-FFF2-40B4-BE49-F238E27FC236}">
                <a16:creationId xmlns:a16="http://schemas.microsoft.com/office/drawing/2014/main" id="{13F4E159-9DA6-C8B0-D103-B797C4FC5911}"/>
              </a:ext>
            </a:extLst>
          </p:cNvPr>
          <p:cNvSpPr txBox="1">
            <a:spLocks/>
          </p:cNvSpPr>
          <p:nvPr/>
        </p:nvSpPr>
        <p:spPr>
          <a:xfrm>
            <a:off x="1365250" y="1483623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 Eventos do Scrum 📅</a:t>
            </a:r>
          </a:p>
        </p:txBody>
      </p:sp>
    </p:spTree>
    <p:extLst>
      <p:ext uri="{BB962C8B-B14F-4D97-AF65-F5344CB8AC3E}">
        <p14:creationId xmlns:p14="http://schemas.microsoft.com/office/powerpoint/2010/main" val="5841387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1D965-A89A-3DCB-DB8E-64F9A231C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E6EDD150-9A5E-2E28-0725-75B03AAF9459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9EACE58-03EB-7473-2D25-5691BBC5F63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E496813-FCB5-3054-874C-9A993BC42FBF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D61B4EA-B85E-EECE-10FD-6BA864191EA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E6D6BE6-5A18-6242-AC0B-D8D2567C0BF3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3B69AAF-DF65-7F6B-69D4-98F3EFA9D647}"/>
              </a:ext>
            </a:extLst>
          </p:cNvPr>
          <p:cNvSpPr txBox="1"/>
          <p:nvPr/>
        </p:nvSpPr>
        <p:spPr>
          <a:xfrm>
            <a:off x="1365250" y="3216275"/>
            <a:ext cx="1645464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3️⃣ </a:t>
            </a:r>
            <a:r>
              <a:rPr lang="pt-BR" sz="4000" b="1" dirty="0"/>
              <a:t>Sprint Review (Revisão da Sprint)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Apresentação do que foi desenvolvido ao final da Sprint.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Feedback do cliente e stakeholders sobre o que foi entregue.</a:t>
            </a:r>
          </a:p>
          <a:p>
            <a:endParaRPr lang="pt-BR" sz="4000" dirty="0"/>
          </a:p>
          <a:p>
            <a:r>
              <a:rPr lang="pt-BR" sz="4000" dirty="0"/>
              <a:t>4️⃣ </a:t>
            </a:r>
            <a:r>
              <a:rPr lang="pt-BR" sz="4000" b="1" dirty="0"/>
              <a:t>Sprint </a:t>
            </a:r>
            <a:r>
              <a:rPr lang="pt-BR" sz="4000" b="1" dirty="0" err="1"/>
              <a:t>Retrospective</a:t>
            </a:r>
            <a:r>
              <a:rPr lang="pt-BR" sz="4000" b="1" dirty="0"/>
              <a:t> (Retrospectiva da Sprint)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O time discute o que funcionou bem e o que pode ser melhorado.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Foco na melhoria contínua para a próxima Sprint.</a:t>
            </a:r>
          </a:p>
        </p:txBody>
      </p:sp>
      <p:sp>
        <p:nvSpPr>
          <p:cNvPr id="11" name="object 71">
            <a:extLst>
              <a:ext uri="{FF2B5EF4-FFF2-40B4-BE49-F238E27FC236}">
                <a16:creationId xmlns:a16="http://schemas.microsoft.com/office/drawing/2014/main" id="{0288FAAE-5E2D-F6F3-FF61-907BAE723257}"/>
              </a:ext>
            </a:extLst>
          </p:cNvPr>
          <p:cNvSpPr txBox="1">
            <a:spLocks/>
          </p:cNvSpPr>
          <p:nvPr/>
        </p:nvSpPr>
        <p:spPr>
          <a:xfrm>
            <a:off x="1365250" y="1483623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 Eventos do Scrum 📅</a:t>
            </a:r>
          </a:p>
        </p:txBody>
      </p:sp>
    </p:spTree>
    <p:extLst>
      <p:ext uri="{BB962C8B-B14F-4D97-AF65-F5344CB8AC3E}">
        <p14:creationId xmlns:p14="http://schemas.microsoft.com/office/powerpoint/2010/main" val="36485947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B4FAE-82D1-668E-0F8F-D79BF1ACC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78D20384-322A-2E3A-8845-7C5C07C8944D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6960EC3-7703-AA2D-052B-1BF510F0735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D8AD649-7C39-F9D1-8BDB-1E54C14085AA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F1BE8A86-8D0A-737D-A6BE-69F8EDD4604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202B94F-D26D-65BE-2291-98DC98279AD7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12EA89D-513E-E775-15A2-E14BDF5A70C6}"/>
              </a:ext>
            </a:extLst>
          </p:cNvPr>
          <p:cNvSpPr txBox="1"/>
          <p:nvPr/>
        </p:nvSpPr>
        <p:spPr>
          <a:xfrm>
            <a:off x="1365250" y="3216275"/>
            <a:ext cx="16454642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4000" dirty="0"/>
          </a:p>
          <a:p>
            <a:r>
              <a:rPr lang="pt-BR" sz="4000" dirty="0"/>
              <a:t>✅ Entrega rápida de valor ao cliente.</a:t>
            </a:r>
          </a:p>
          <a:p>
            <a:endParaRPr lang="pt-BR" sz="4000" dirty="0"/>
          </a:p>
          <a:p>
            <a:r>
              <a:rPr lang="pt-BR" sz="4000" dirty="0"/>
              <a:t>✅ Flexibilidade para mudanças de requisitos durante o projeto.</a:t>
            </a:r>
          </a:p>
          <a:p>
            <a:endParaRPr lang="pt-BR" sz="4000" dirty="0"/>
          </a:p>
          <a:p>
            <a:r>
              <a:rPr lang="pt-BR" sz="4000" dirty="0"/>
              <a:t>✅ Transparência e comunicação constante entre os membros da equipe.</a:t>
            </a:r>
          </a:p>
          <a:p>
            <a:endParaRPr lang="pt-BR" sz="4000" dirty="0"/>
          </a:p>
          <a:p>
            <a:r>
              <a:rPr lang="pt-BR" sz="4000" dirty="0"/>
              <a:t>✅ Melhoria contínua com inspeção e adaptação frequentes.</a:t>
            </a:r>
          </a:p>
          <a:p>
            <a:endParaRPr lang="pt-BR" sz="4000" dirty="0"/>
          </a:p>
          <a:p>
            <a:r>
              <a:rPr lang="pt-BR" sz="4000" dirty="0"/>
              <a:t>✅ Redução de riscos, pois cada Sprint entrega algo funcional.</a:t>
            </a:r>
          </a:p>
        </p:txBody>
      </p:sp>
      <p:sp>
        <p:nvSpPr>
          <p:cNvPr id="11" name="object 71">
            <a:extLst>
              <a:ext uri="{FF2B5EF4-FFF2-40B4-BE49-F238E27FC236}">
                <a16:creationId xmlns:a16="http://schemas.microsoft.com/office/drawing/2014/main" id="{2842A46E-68BB-7B63-D8EA-5EC5008A0D42}"/>
              </a:ext>
            </a:extLst>
          </p:cNvPr>
          <p:cNvSpPr txBox="1">
            <a:spLocks/>
          </p:cNvSpPr>
          <p:nvPr/>
        </p:nvSpPr>
        <p:spPr>
          <a:xfrm>
            <a:off x="1365250" y="1483623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Vantagens do SCRUM </a:t>
            </a:r>
            <a:r>
              <a:rPr lang="pt-BR" sz="5400" dirty="0"/>
              <a:t>🎯</a:t>
            </a:r>
            <a:endParaRPr lang="pt-BR" sz="4950" b="1" kern="0" spc="-15" dirty="0">
              <a:latin typeface="Montserrat ExtraBold"/>
              <a:cs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3009055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A05FE-B6C7-B47E-B5F7-F3CA8E8E4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5920574C-4CF8-054D-E753-C63AEDC4D3D6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3618D45-7140-046C-83D4-AD06C6DE175B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C2AD97E-68D7-1D2A-72CC-60A7AA59C3F1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537B6F2-51F5-1745-2213-C3E7D256B30D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CEE1376-7027-AF50-833B-E6719B4ECEE0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4DDB2EC-8589-D0FD-14FF-41498848B951}"/>
              </a:ext>
            </a:extLst>
          </p:cNvPr>
          <p:cNvSpPr txBox="1"/>
          <p:nvPr/>
        </p:nvSpPr>
        <p:spPr>
          <a:xfrm>
            <a:off x="1365250" y="3216275"/>
            <a:ext cx="1645464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❌ Requer comprometimento e disciplina da equipe.</a:t>
            </a:r>
          </a:p>
          <a:p>
            <a:endParaRPr lang="pt-BR" sz="4000" dirty="0"/>
          </a:p>
          <a:p>
            <a:r>
              <a:rPr lang="pt-BR" sz="4000" dirty="0"/>
              <a:t>❌ Times inexperientes podem ter dificuldades em estimar tarefas 	corretamente.</a:t>
            </a:r>
          </a:p>
          <a:p>
            <a:endParaRPr lang="pt-BR" sz="4000" dirty="0"/>
          </a:p>
          <a:p>
            <a:r>
              <a:rPr lang="pt-BR" sz="4000" dirty="0"/>
              <a:t>❌ Se o </a:t>
            </a:r>
            <a:r>
              <a:rPr lang="pt-BR" sz="4000" b="1" dirty="0" err="1"/>
              <a:t>Product</a:t>
            </a:r>
            <a:r>
              <a:rPr lang="pt-BR" sz="4000" b="1" dirty="0"/>
              <a:t> </a:t>
            </a:r>
            <a:r>
              <a:rPr lang="pt-BR" sz="4000" b="1" dirty="0" err="1"/>
              <a:t>Owner</a:t>
            </a:r>
            <a:r>
              <a:rPr lang="pt-BR" sz="4000" b="1" dirty="0"/>
              <a:t> </a:t>
            </a:r>
            <a:r>
              <a:rPr lang="pt-BR" sz="4000" dirty="0"/>
              <a:t>não priorizar bem o Backlog, o projeto pode perder o foco.</a:t>
            </a:r>
          </a:p>
        </p:txBody>
      </p:sp>
      <p:sp>
        <p:nvSpPr>
          <p:cNvPr id="11" name="object 71">
            <a:extLst>
              <a:ext uri="{FF2B5EF4-FFF2-40B4-BE49-F238E27FC236}">
                <a16:creationId xmlns:a16="http://schemas.microsoft.com/office/drawing/2014/main" id="{2A80FD7C-4599-395F-4E03-B62BD9687117}"/>
              </a:ext>
            </a:extLst>
          </p:cNvPr>
          <p:cNvSpPr txBox="1">
            <a:spLocks/>
          </p:cNvSpPr>
          <p:nvPr/>
        </p:nvSpPr>
        <p:spPr>
          <a:xfrm>
            <a:off x="1365250" y="1483623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❌ Desafios do Scrum</a:t>
            </a:r>
          </a:p>
        </p:txBody>
      </p:sp>
    </p:spTree>
    <p:extLst>
      <p:ext uri="{BB962C8B-B14F-4D97-AF65-F5344CB8AC3E}">
        <p14:creationId xmlns:p14="http://schemas.microsoft.com/office/powerpoint/2010/main" val="41833792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4B6BE-1121-C18C-350E-7A79B4A08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AA94773C-CDBC-EC1B-1841-9E3128CFA4E5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D4CE216-6A1A-911A-158F-7D44013C81A8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D0F3624-ABB7-DF99-15B6-B6E1F6995B7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7521022-B54A-E3E9-E62F-7BBFA20B378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D4FE971-C80E-4B4D-7A16-CF32884C739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266" name="Picture 2" descr="Kanban: o que é e como aplicar? – Novidá">
            <a:extLst>
              <a:ext uri="{FF2B5EF4-FFF2-40B4-BE49-F238E27FC236}">
                <a16:creationId xmlns:a16="http://schemas.microsoft.com/office/drawing/2014/main" id="{1F821639-666E-1B81-1DF4-015A6AE8C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0" y="2488420"/>
            <a:ext cx="14401800" cy="720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bject 71">
            <a:extLst>
              <a:ext uri="{FF2B5EF4-FFF2-40B4-BE49-F238E27FC236}">
                <a16:creationId xmlns:a16="http://schemas.microsoft.com/office/drawing/2014/main" id="{4E54022B-2A18-0E6B-6AD6-BF785A042376}"/>
              </a:ext>
            </a:extLst>
          </p:cNvPr>
          <p:cNvSpPr txBox="1">
            <a:spLocks/>
          </p:cNvSpPr>
          <p:nvPr/>
        </p:nvSpPr>
        <p:spPr>
          <a:xfrm>
            <a:off x="1365250" y="1483623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KANBAN</a:t>
            </a:r>
          </a:p>
        </p:txBody>
      </p:sp>
    </p:spTree>
    <p:extLst>
      <p:ext uri="{BB962C8B-B14F-4D97-AF65-F5344CB8AC3E}">
        <p14:creationId xmlns:p14="http://schemas.microsoft.com/office/powerpoint/2010/main" val="11465854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1044F-7D6D-76F1-1D17-FDA712F64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305105B-5C5C-7D47-4501-9E2645762E07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C44810C-2C82-99C9-4C93-8FF6072026AC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CD5AF1C-B220-30A9-3DA4-26FE00D0E1EB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A3D49C1-262A-CF19-1A29-43D0D2172D57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08A49D5-4C3D-3C4B-9B17-1DEA098601C7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2A46C03-A6AE-E61F-B55F-67EB36DF106B}"/>
              </a:ext>
            </a:extLst>
          </p:cNvPr>
          <p:cNvSpPr txBox="1"/>
          <p:nvPr/>
        </p:nvSpPr>
        <p:spPr>
          <a:xfrm>
            <a:off x="1365250" y="3216275"/>
            <a:ext cx="1645464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</a:t>
            </a:r>
            <a:r>
              <a:rPr lang="pt-BR" sz="4000" b="1" dirty="0" err="1"/>
              <a:t>Kanban</a:t>
            </a:r>
            <a:r>
              <a:rPr lang="pt-BR" sz="4000" dirty="0"/>
              <a:t> é um método ágil de gerenciamento de fluxo de trabalho que usa um </a:t>
            </a:r>
            <a:r>
              <a:rPr lang="pt-BR" sz="4000" b="1" dirty="0"/>
              <a:t>quadro visual </a:t>
            </a:r>
            <a:r>
              <a:rPr lang="pt-BR" sz="4000" dirty="0"/>
              <a:t>para ajudar equipes a monitorar tarefas e otimizar processos. Ele é amplamente utilizado no desenvolvimento de software, suporte técnico, operações, marketing e até na vida pessoal.</a:t>
            </a:r>
          </a:p>
          <a:p>
            <a:endParaRPr lang="pt-BR" sz="4000" dirty="0"/>
          </a:p>
          <a:p>
            <a:r>
              <a:rPr lang="pt-BR" sz="4000" dirty="0"/>
              <a:t>Diferente do Scrum, que trabalha com Sprints e papéis definidos</a:t>
            </a:r>
            <a:r>
              <a:rPr lang="pt-BR" sz="4000" b="1" dirty="0"/>
              <a:t>, o </a:t>
            </a:r>
            <a:r>
              <a:rPr lang="pt-BR" sz="4000" b="1" dirty="0" err="1"/>
              <a:t>Kanban</a:t>
            </a:r>
            <a:r>
              <a:rPr lang="pt-BR" sz="4000" b="1" dirty="0"/>
              <a:t> foca no fluxo contínuo de trabalho</a:t>
            </a:r>
            <a:r>
              <a:rPr lang="pt-BR" sz="4000" dirty="0"/>
              <a:t>, permitindo mudanças a qualquer momento sem ciclos fixos.</a:t>
            </a:r>
          </a:p>
        </p:txBody>
      </p:sp>
      <p:sp>
        <p:nvSpPr>
          <p:cNvPr id="11" name="object 71">
            <a:extLst>
              <a:ext uri="{FF2B5EF4-FFF2-40B4-BE49-F238E27FC236}">
                <a16:creationId xmlns:a16="http://schemas.microsoft.com/office/drawing/2014/main" id="{FB8797C6-B4A0-D814-E080-0D790DCC04AC}"/>
              </a:ext>
            </a:extLst>
          </p:cNvPr>
          <p:cNvSpPr txBox="1">
            <a:spLocks/>
          </p:cNvSpPr>
          <p:nvPr/>
        </p:nvSpPr>
        <p:spPr>
          <a:xfrm>
            <a:off x="1365250" y="1483623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KANBAN</a:t>
            </a:r>
          </a:p>
        </p:txBody>
      </p:sp>
    </p:spTree>
    <p:extLst>
      <p:ext uri="{BB962C8B-B14F-4D97-AF65-F5344CB8AC3E}">
        <p14:creationId xmlns:p14="http://schemas.microsoft.com/office/powerpoint/2010/main" val="20817999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D2E71-BB2F-E8FC-A702-215201DA8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71CAC2C6-9F6C-7059-B7C8-607BE1175972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240EF63-EC97-DAE5-3BF8-0E7AF7D2208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1EC9593-3538-79AA-CA94-4205F472512C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90F1C90-23D1-BBFF-494E-D78CA88A1EF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B45ACFB-8468-3D25-4132-8C2611E817F4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C69BCFE-D42E-29BA-B2A7-1D40FE225952}"/>
              </a:ext>
            </a:extLst>
          </p:cNvPr>
          <p:cNvSpPr txBox="1"/>
          <p:nvPr/>
        </p:nvSpPr>
        <p:spPr>
          <a:xfrm>
            <a:off x="1365250" y="2688958"/>
            <a:ext cx="16454642" cy="7709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Um quadro </a:t>
            </a:r>
            <a:r>
              <a:rPr lang="pt-BR" sz="4000" dirty="0" err="1"/>
              <a:t>Kanban</a:t>
            </a:r>
            <a:r>
              <a:rPr lang="pt-BR" sz="4000" dirty="0"/>
              <a:t> típico possui pelo menos três colunas:</a:t>
            </a:r>
          </a:p>
          <a:p>
            <a:endParaRPr lang="pt-BR" sz="4000" dirty="0"/>
          </a:p>
          <a:p>
            <a:r>
              <a:rPr lang="pt-BR" sz="4000" b="1" dirty="0"/>
              <a:t>📍 </a:t>
            </a:r>
            <a:r>
              <a:rPr lang="pt-BR" sz="4000" b="1" dirty="0" err="1"/>
              <a:t>To</a:t>
            </a:r>
            <a:r>
              <a:rPr lang="pt-BR" sz="4000" b="1" dirty="0"/>
              <a:t> Do (A Fazer) </a:t>
            </a:r>
            <a:r>
              <a:rPr lang="pt-BR" sz="4000" dirty="0"/>
              <a:t>→ Lista de tarefas a serem iniciadas.</a:t>
            </a:r>
          </a:p>
          <a:p>
            <a:r>
              <a:rPr lang="pt-BR" sz="4000" b="1" dirty="0"/>
              <a:t>📍 In </a:t>
            </a:r>
            <a:r>
              <a:rPr lang="pt-BR" sz="4000" b="1" dirty="0" err="1"/>
              <a:t>Progress</a:t>
            </a:r>
            <a:r>
              <a:rPr lang="pt-BR" sz="4000" b="1" dirty="0"/>
              <a:t> (Em Andamento) </a:t>
            </a:r>
            <a:r>
              <a:rPr lang="pt-BR" sz="4000" dirty="0"/>
              <a:t>→ Tarefas em execução.</a:t>
            </a:r>
          </a:p>
          <a:p>
            <a:r>
              <a:rPr lang="pt-BR" sz="4000" dirty="0"/>
              <a:t>📍 </a:t>
            </a:r>
            <a:r>
              <a:rPr lang="pt-BR" sz="4000" b="1" dirty="0" err="1"/>
              <a:t>Done</a:t>
            </a:r>
            <a:r>
              <a:rPr lang="pt-BR" sz="4000" b="1" dirty="0"/>
              <a:t> (Concluído) </a:t>
            </a:r>
            <a:r>
              <a:rPr lang="pt-BR" sz="4000" dirty="0"/>
              <a:t>→ Tarefas finalizadas.</a:t>
            </a:r>
          </a:p>
          <a:p>
            <a:endParaRPr lang="pt-BR" sz="4000" dirty="0"/>
          </a:p>
          <a:p>
            <a:pPr>
              <a:spcBef>
                <a:spcPts val="600"/>
              </a:spcBef>
            </a:pPr>
            <a:r>
              <a:rPr lang="pt-BR" sz="4000" dirty="0"/>
              <a:t>🔹 As tarefas são representadas por cartões que se movem pelo quadro, seguindo o fluxo de trabalho.</a:t>
            </a:r>
          </a:p>
          <a:p>
            <a:pPr>
              <a:spcBef>
                <a:spcPts val="600"/>
              </a:spcBef>
            </a:pPr>
            <a:r>
              <a:rPr lang="pt-BR" sz="4000" dirty="0"/>
              <a:t>🔹 Equipes podem personalizar o quadro, adicionando colunas como </a:t>
            </a:r>
            <a:r>
              <a:rPr lang="pt-BR" sz="4000" b="1" dirty="0"/>
              <a:t>"Revisão", "Aprovação", "Testes", </a:t>
            </a:r>
            <a:r>
              <a:rPr lang="pt-BR" sz="4000" dirty="0"/>
              <a:t>etc.</a:t>
            </a:r>
          </a:p>
          <a:p>
            <a:pPr>
              <a:spcBef>
                <a:spcPts val="600"/>
              </a:spcBef>
            </a:pPr>
            <a:r>
              <a:rPr lang="pt-BR" sz="4000" dirty="0"/>
              <a:t>🔹 Um conceito importante do </a:t>
            </a:r>
            <a:r>
              <a:rPr lang="pt-BR" sz="4000" dirty="0" err="1"/>
              <a:t>Kanban</a:t>
            </a:r>
            <a:r>
              <a:rPr lang="pt-BR" sz="4000" dirty="0"/>
              <a:t> é o </a:t>
            </a:r>
            <a:r>
              <a:rPr lang="pt-BR" sz="4000" b="1" dirty="0"/>
              <a:t>WIP (</a:t>
            </a:r>
            <a:r>
              <a:rPr lang="pt-BR" sz="4000" b="1" dirty="0" err="1"/>
              <a:t>Work</a:t>
            </a:r>
            <a:r>
              <a:rPr lang="pt-BR" sz="4000" b="1" dirty="0"/>
              <a:t> In </a:t>
            </a:r>
            <a:r>
              <a:rPr lang="pt-BR" sz="4000" b="1" dirty="0" err="1"/>
              <a:t>Progress</a:t>
            </a:r>
            <a:r>
              <a:rPr lang="pt-BR" sz="4000" b="1" dirty="0"/>
              <a:t>) </a:t>
            </a:r>
            <a:r>
              <a:rPr lang="pt-BR" sz="4000" b="1" dirty="0" err="1"/>
              <a:t>Limit</a:t>
            </a:r>
            <a:r>
              <a:rPr lang="pt-BR" sz="4000" dirty="0"/>
              <a:t>, que limita a quantidade de tarefas em andamento para evitar sobrecarga.</a:t>
            </a:r>
          </a:p>
        </p:txBody>
      </p:sp>
      <p:sp>
        <p:nvSpPr>
          <p:cNvPr id="11" name="object 71">
            <a:extLst>
              <a:ext uri="{FF2B5EF4-FFF2-40B4-BE49-F238E27FC236}">
                <a16:creationId xmlns:a16="http://schemas.microsoft.com/office/drawing/2014/main" id="{BADAF0C2-BF7C-2133-7ED3-2904D8A4A882}"/>
              </a:ext>
            </a:extLst>
          </p:cNvPr>
          <p:cNvSpPr txBox="1">
            <a:spLocks/>
          </p:cNvSpPr>
          <p:nvPr/>
        </p:nvSpPr>
        <p:spPr>
          <a:xfrm>
            <a:off x="1365250" y="1483623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Estrutura Básica do Quadro </a:t>
            </a:r>
            <a:r>
              <a:rPr lang="pt-BR" sz="4950" b="1" kern="0" spc="-15" dirty="0" err="1">
                <a:latin typeface="Montserrat ExtraBold"/>
                <a:cs typeface="Montserrat ExtraBold"/>
              </a:rPr>
              <a:t>Kanban</a:t>
            </a:r>
            <a:r>
              <a:rPr lang="pt-BR" sz="4950" b="1" kern="0" spc="-15" dirty="0">
                <a:latin typeface="Montserrat ExtraBold"/>
                <a:cs typeface="Montserrat ExtraBold"/>
              </a:rPr>
              <a:t> 📝</a:t>
            </a:r>
          </a:p>
        </p:txBody>
      </p:sp>
    </p:spTree>
    <p:extLst>
      <p:ext uri="{BB962C8B-B14F-4D97-AF65-F5344CB8AC3E}">
        <p14:creationId xmlns:p14="http://schemas.microsoft.com/office/powerpoint/2010/main" val="1117702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44E13-BEE3-A914-8E4C-BAE5AECFD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3AA77034-47CD-55AC-87A5-DF5948DAE250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6B568EF-6B8E-29DA-72D1-01EEF06CC30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E8546B3-2033-5AE2-85C7-F90C5FA04FA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426D4C9-824E-16BC-4840-53A633DD41CF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0EDEFF7-F716-7F0A-8B8A-3C86BA3BD132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75BBBAD-9129-64B4-DE37-D357165EE461}"/>
              </a:ext>
            </a:extLst>
          </p:cNvPr>
          <p:cNvSpPr txBox="1"/>
          <p:nvPr/>
        </p:nvSpPr>
        <p:spPr>
          <a:xfrm>
            <a:off x="1365250" y="2688958"/>
            <a:ext cx="16454642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1️⃣ </a:t>
            </a:r>
            <a:r>
              <a:rPr lang="pt-BR" sz="4000" b="1" dirty="0"/>
              <a:t>Visualizar o fluxo de trabalho 🎨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As tarefas ficam visíveis no quadro, facilitando a organização.</a:t>
            </a:r>
          </a:p>
          <a:p>
            <a:r>
              <a:rPr lang="pt-BR" sz="4000" dirty="0"/>
              <a:t>2️⃣ </a:t>
            </a:r>
            <a:r>
              <a:rPr lang="pt-BR" sz="4000" b="1" dirty="0"/>
              <a:t>Limitar o trabalho em progresso (WIP) 🚦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Evita sobrecarga da equipe e melhora a eficiência.</a:t>
            </a:r>
          </a:p>
          <a:p>
            <a:r>
              <a:rPr lang="pt-BR" sz="4000" dirty="0"/>
              <a:t>3️⃣ </a:t>
            </a:r>
            <a:r>
              <a:rPr lang="pt-BR" sz="4000" b="1" dirty="0"/>
              <a:t>Gerenciar o fluxo de trabalho 🔄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O foco é entregar tarefas continuamente, sem Sprints fixas como no Scrum.</a:t>
            </a:r>
          </a:p>
          <a:p>
            <a:r>
              <a:rPr lang="pt-BR" sz="4000" dirty="0"/>
              <a:t>4️⃣ </a:t>
            </a:r>
            <a:r>
              <a:rPr lang="pt-BR" sz="4000" b="1" dirty="0"/>
              <a:t>Tornar as regras explícitas 📜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Cada equipe define seu fluxo de trabalho e as regras de movimentação dos cartões.</a:t>
            </a:r>
          </a:p>
          <a:p>
            <a:r>
              <a:rPr lang="pt-BR" sz="4000" dirty="0"/>
              <a:t>5️⃣ </a:t>
            </a:r>
            <a:r>
              <a:rPr lang="pt-BR" sz="4000" b="1" dirty="0"/>
              <a:t>Melhorar continuamente 📈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 equipe analisa o processo e ajusta o fluxo para maior eficiência.</a:t>
            </a:r>
          </a:p>
        </p:txBody>
      </p:sp>
      <p:sp>
        <p:nvSpPr>
          <p:cNvPr id="11" name="object 71">
            <a:extLst>
              <a:ext uri="{FF2B5EF4-FFF2-40B4-BE49-F238E27FC236}">
                <a16:creationId xmlns:a16="http://schemas.microsoft.com/office/drawing/2014/main" id="{D5F4DF33-BCBF-B4E9-E36C-9730611BF1F7}"/>
              </a:ext>
            </a:extLst>
          </p:cNvPr>
          <p:cNvSpPr txBox="1">
            <a:spLocks/>
          </p:cNvSpPr>
          <p:nvPr/>
        </p:nvSpPr>
        <p:spPr>
          <a:xfrm>
            <a:off x="1365250" y="1483623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📌 Princípios do </a:t>
            </a:r>
            <a:r>
              <a:rPr lang="pt-BR" sz="4950" b="1" kern="0" spc="-15" dirty="0" err="1">
                <a:latin typeface="Montserrat ExtraBold"/>
                <a:cs typeface="Montserrat ExtraBold"/>
              </a:rPr>
              <a:t>Kanban</a:t>
            </a:r>
            <a:endParaRPr lang="pt-BR" sz="4950" b="1" kern="0" spc="-15" dirty="0">
              <a:latin typeface="Montserrat ExtraBold"/>
              <a:cs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3557882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C7B99-FB15-F6B3-B958-EFB98303D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F9044F58-5D3F-996F-B79F-1E7DDF61FEC8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0D76F36-271B-41E4-7E1C-B0F3F402FB9D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6E87A39-7B39-6A90-FD50-4D4773E114A8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4FA69BF4-0892-8D2F-9B41-BF35D5889E03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0C090FE-0FDF-EB50-0EDE-A9524BF10D67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ECAFD31-4294-7CF3-5A39-1F55D92487C7}"/>
              </a:ext>
            </a:extLst>
          </p:cNvPr>
          <p:cNvSpPr txBox="1"/>
          <p:nvPr/>
        </p:nvSpPr>
        <p:spPr>
          <a:xfrm>
            <a:off x="1365250" y="2688958"/>
            <a:ext cx="16454642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✅ </a:t>
            </a:r>
            <a:r>
              <a:rPr lang="pt-BR" sz="4000" b="1" dirty="0"/>
              <a:t>Flexibilidade</a:t>
            </a:r>
            <a:r>
              <a:rPr lang="pt-BR" sz="4000" dirty="0"/>
              <a:t> → Permite mudanças a qualquer momento.</a:t>
            </a:r>
          </a:p>
          <a:p>
            <a:endParaRPr lang="pt-BR" sz="4000" dirty="0"/>
          </a:p>
          <a:p>
            <a:r>
              <a:rPr lang="pt-BR" sz="4000" dirty="0"/>
              <a:t>✅ </a:t>
            </a:r>
            <a:r>
              <a:rPr lang="pt-BR" sz="4000" b="1" dirty="0"/>
              <a:t>Transparência</a:t>
            </a:r>
            <a:r>
              <a:rPr lang="pt-BR" sz="4000" dirty="0"/>
              <a:t> → Todos veem o status das tarefas.</a:t>
            </a:r>
          </a:p>
          <a:p>
            <a:endParaRPr lang="pt-BR" sz="4000" dirty="0"/>
          </a:p>
          <a:p>
            <a:r>
              <a:rPr lang="pt-BR" sz="4000" dirty="0"/>
              <a:t>✅ </a:t>
            </a:r>
            <a:r>
              <a:rPr lang="pt-BR" sz="4000" b="1" dirty="0"/>
              <a:t>Redução</a:t>
            </a:r>
            <a:r>
              <a:rPr lang="pt-BR" sz="4000" dirty="0"/>
              <a:t> </a:t>
            </a:r>
            <a:r>
              <a:rPr lang="pt-BR" sz="4000" b="1" dirty="0"/>
              <a:t>de</a:t>
            </a:r>
            <a:r>
              <a:rPr lang="pt-BR" sz="4000" dirty="0"/>
              <a:t> </a:t>
            </a:r>
            <a:r>
              <a:rPr lang="pt-BR" sz="4000" b="1" dirty="0"/>
              <a:t>gargalos</a:t>
            </a:r>
            <a:r>
              <a:rPr lang="pt-BR" sz="4000" dirty="0"/>
              <a:t> → O limite de WIP impede sobrecarga.</a:t>
            </a:r>
          </a:p>
          <a:p>
            <a:endParaRPr lang="pt-BR" sz="4000" dirty="0"/>
          </a:p>
          <a:p>
            <a:r>
              <a:rPr lang="pt-BR" sz="4000" dirty="0"/>
              <a:t>✅ </a:t>
            </a:r>
            <a:r>
              <a:rPr lang="pt-BR" sz="4000" b="1" dirty="0"/>
              <a:t>Entrega</a:t>
            </a:r>
            <a:r>
              <a:rPr lang="pt-BR" sz="4000" dirty="0"/>
              <a:t> </a:t>
            </a:r>
            <a:r>
              <a:rPr lang="pt-BR" sz="4000" b="1" dirty="0"/>
              <a:t>contínua</a:t>
            </a:r>
            <a:r>
              <a:rPr lang="pt-BR" sz="4000" dirty="0"/>
              <a:t> → Ideal para suporte técnico e manutenção de software.</a:t>
            </a:r>
          </a:p>
          <a:p>
            <a:endParaRPr lang="pt-BR" sz="4000" dirty="0"/>
          </a:p>
          <a:p>
            <a:r>
              <a:rPr lang="pt-BR" sz="4000" dirty="0"/>
              <a:t>✅ </a:t>
            </a:r>
            <a:r>
              <a:rPr lang="pt-BR" sz="4000" b="1" dirty="0"/>
              <a:t>Menos</a:t>
            </a:r>
            <a:r>
              <a:rPr lang="pt-BR" sz="4000" dirty="0"/>
              <a:t> </a:t>
            </a:r>
            <a:r>
              <a:rPr lang="pt-BR" sz="4000" b="1" dirty="0"/>
              <a:t>reuniões</a:t>
            </a:r>
            <a:r>
              <a:rPr lang="pt-BR" sz="4000" dirty="0"/>
              <a:t> → Diferente do Scrum, não exige reuniões diárias ou planejamento rígido.</a:t>
            </a:r>
          </a:p>
        </p:txBody>
      </p:sp>
      <p:sp>
        <p:nvSpPr>
          <p:cNvPr id="11" name="object 71">
            <a:extLst>
              <a:ext uri="{FF2B5EF4-FFF2-40B4-BE49-F238E27FC236}">
                <a16:creationId xmlns:a16="http://schemas.microsoft.com/office/drawing/2014/main" id="{577F93EB-9E16-43D4-5DB6-10FA4C8C5AFE}"/>
              </a:ext>
            </a:extLst>
          </p:cNvPr>
          <p:cNvSpPr txBox="1">
            <a:spLocks/>
          </p:cNvSpPr>
          <p:nvPr/>
        </p:nvSpPr>
        <p:spPr>
          <a:xfrm>
            <a:off x="1365250" y="1483623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📌 Benefícios do </a:t>
            </a:r>
            <a:r>
              <a:rPr lang="pt-BR" sz="4950" b="1" kern="0" spc="-15" dirty="0" err="1">
                <a:latin typeface="Montserrat ExtraBold"/>
                <a:cs typeface="Montserrat ExtraBold"/>
              </a:rPr>
              <a:t>Kanban</a:t>
            </a:r>
            <a:endParaRPr lang="pt-BR" sz="4950" b="1" kern="0" spc="-15" dirty="0">
              <a:latin typeface="Montserrat ExtraBold"/>
              <a:cs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7581012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7ADFC-8A18-9619-741D-5B310498A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B12171C-C593-6804-7528-1A82F242CE48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627A5F6-67D1-3AA0-7457-D0050E38938B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16878B2-F2E7-2D3D-137E-2B0FBD216D01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E70E051-A51C-9598-B71C-536C983FE313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FEEAAB9-4E3A-1E2E-7DE0-30207DF57B6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71">
            <a:extLst>
              <a:ext uri="{FF2B5EF4-FFF2-40B4-BE49-F238E27FC236}">
                <a16:creationId xmlns:a16="http://schemas.microsoft.com/office/drawing/2014/main" id="{D9AC8306-C527-86F9-A15E-289ACFDF03D6}"/>
              </a:ext>
            </a:extLst>
          </p:cNvPr>
          <p:cNvSpPr txBox="1">
            <a:spLocks/>
          </p:cNvSpPr>
          <p:nvPr/>
        </p:nvSpPr>
        <p:spPr>
          <a:xfrm>
            <a:off x="1365250" y="1483623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📌 Benefícios do </a:t>
            </a:r>
            <a:r>
              <a:rPr lang="pt-BR" sz="4950" b="1" kern="0" spc="-15" dirty="0" err="1">
                <a:latin typeface="Montserrat ExtraBold"/>
                <a:cs typeface="Montserrat ExtraBold"/>
              </a:rPr>
              <a:t>Kanban</a:t>
            </a:r>
            <a:endParaRPr lang="pt-BR" sz="4950" b="1" kern="0" spc="-15" dirty="0">
              <a:latin typeface="Montserrat ExtraBold"/>
              <a:cs typeface="Montserrat ExtraBold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E60BA3C-254E-13BC-B715-E0B12479B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722" y="2951318"/>
            <a:ext cx="16702656" cy="646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0712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9C0B4-71B0-C3EB-DFC1-7CC457939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E3204240-B63A-91EA-CB48-BECA734131F9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015D571-D5B6-9C6C-BC97-6C07BE3A4EE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B0535DF-0D0E-A7A8-8A85-2DEECFFFD3D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38836D2-8EF7-ADD8-CF3C-330AE8790163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FDF0BF5-9F2B-FE20-1C57-D6874EF11830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71">
            <a:extLst>
              <a:ext uri="{FF2B5EF4-FFF2-40B4-BE49-F238E27FC236}">
                <a16:creationId xmlns:a16="http://schemas.microsoft.com/office/drawing/2014/main" id="{521AD88D-1E16-1D23-CD64-914BCA6F3A0B}"/>
              </a:ext>
            </a:extLst>
          </p:cNvPr>
          <p:cNvSpPr txBox="1">
            <a:spLocks/>
          </p:cNvSpPr>
          <p:nvPr/>
        </p:nvSpPr>
        <p:spPr>
          <a:xfrm>
            <a:off x="1365250" y="1483623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Extreme </a:t>
            </a:r>
            <a:r>
              <a:rPr lang="pt-BR" sz="4950" b="1" kern="0" spc="-15" dirty="0" err="1">
                <a:latin typeface="Montserrat ExtraBold"/>
                <a:cs typeface="Montserrat ExtraBold"/>
              </a:rPr>
              <a:t>Programming</a:t>
            </a:r>
            <a:r>
              <a:rPr lang="pt-BR" sz="4950" b="1" kern="0" spc="-15" dirty="0">
                <a:latin typeface="Montserrat ExtraBold"/>
                <a:cs typeface="Montserrat ExtraBold"/>
              </a:rPr>
              <a:t> (XP)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B062D05-7236-9147-63F8-09B0E7B2840E}"/>
              </a:ext>
            </a:extLst>
          </p:cNvPr>
          <p:cNvSpPr txBox="1"/>
          <p:nvPr/>
        </p:nvSpPr>
        <p:spPr>
          <a:xfrm>
            <a:off x="1365250" y="2987675"/>
            <a:ext cx="1645464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</a:t>
            </a:r>
            <a:r>
              <a:rPr lang="pt-BR" sz="4000" b="1" dirty="0"/>
              <a:t>Extreme </a:t>
            </a:r>
            <a:r>
              <a:rPr lang="pt-BR" sz="4000" b="1" dirty="0" err="1"/>
              <a:t>Programming</a:t>
            </a:r>
            <a:r>
              <a:rPr lang="pt-BR" sz="4000" b="1" dirty="0"/>
              <a:t> (XP) </a:t>
            </a:r>
            <a:r>
              <a:rPr lang="pt-BR" sz="4000" dirty="0"/>
              <a:t>é uma </a:t>
            </a:r>
            <a:r>
              <a:rPr lang="pt-BR" sz="4000" b="1" dirty="0"/>
              <a:t>metodologia ágil </a:t>
            </a:r>
            <a:r>
              <a:rPr lang="pt-BR" sz="4000" dirty="0"/>
              <a:t>criada por </a:t>
            </a:r>
            <a:r>
              <a:rPr lang="pt-BR" sz="4000" b="1" dirty="0"/>
              <a:t>Kent Beck </a:t>
            </a:r>
            <a:r>
              <a:rPr lang="pt-BR" sz="4000" dirty="0"/>
              <a:t>nos anos 90, focada no </a:t>
            </a:r>
            <a:r>
              <a:rPr lang="pt-BR" sz="4000" b="1" dirty="0"/>
              <a:t>desenvolvimento rápido e de alta qualidade de software</a:t>
            </a:r>
            <a:r>
              <a:rPr lang="pt-BR" sz="4000" dirty="0"/>
              <a:t>. Ele enfatiza a colaboração intensa, a programação em pares, testes constantes e respostas rápidas a mudanças.</a:t>
            </a:r>
          </a:p>
          <a:p>
            <a:endParaRPr lang="pt-BR" sz="4000" dirty="0"/>
          </a:p>
          <a:p>
            <a:r>
              <a:rPr lang="pt-BR" sz="4000" dirty="0"/>
              <a:t>Diferente do Scrum e do </a:t>
            </a:r>
            <a:r>
              <a:rPr lang="pt-BR" sz="4000" dirty="0" err="1"/>
              <a:t>Kanban</a:t>
            </a:r>
            <a:r>
              <a:rPr lang="pt-BR" sz="4000" dirty="0"/>
              <a:t>, que focam no gerenciamento do projeto, o XP está mais relacionado à prática de desenvolvimento de software.</a:t>
            </a:r>
          </a:p>
        </p:txBody>
      </p:sp>
    </p:spTree>
    <p:extLst>
      <p:ext uri="{BB962C8B-B14F-4D97-AF65-F5344CB8AC3E}">
        <p14:creationId xmlns:p14="http://schemas.microsoft.com/office/powerpoint/2010/main" val="28962898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7D60E-3539-2468-EB51-599F78EA2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75612496-1AD6-34A2-BF95-AB4C6298280F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2A09532-2EBB-05E1-92AB-BCFFB221FE15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6B1F85E-F684-4231-2D83-27D120A8AD83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1AFCCD2-D7AF-3FCA-6000-7AF9C8A34B1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3B60F57-0451-13FF-E441-CE4FD87FEB6C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EBF850BE-CF86-9909-9C11-6FA52D192B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50" y="2513303"/>
            <a:ext cx="12547600" cy="665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4846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CFBE9-8B7A-E731-54E8-A8586A900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FA9B84DF-9F62-2949-CF17-320F9CCE8182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5BF3899-7326-B24C-A229-943114AC89CD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21F8C3A-C5FE-DAA6-A699-1D7B0ACB1D99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64CC320-92DB-7250-866C-E42242F249D3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0717E66-AFB2-9B67-FE08-9FCE66D21A5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71">
            <a:extLst>
              <a:ext uri="{FF2B5EF4-FFF2-40B4-BE49-F238E27FC236}">
                <a16:creationId xmlns:a16="http://schemas.microsoft.com/office/drawing/2014/main" id="{24695FFD-0BE1-5F0E-55D0-A434597D16BD}"/>
              </a:ext>
            </a:extLst>
          </p:cNvPr>
          <p:cNvSpPr txBox="1">
            <a:spLocks/>
          </p:cNvSpPr>
          <p:nvPr/>
        </p:nvSpPr>
        <p:spPr>
          <a:xfrm>
            <a:off x="1365250" y="1483623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Extreme </a:t>
            </a:r>
            <a:r>
              <a:rPr lang="pt-BR" sz="4950" b="1" kern="0" spc="-15" dirty="0" err="1">
                <a:latin typeface="Montserrat ExtraBold"/>
                <a:cs typeface="Montserrat ExtraBold"/>
              </a:rPr>
              <a:t>Programming</a:t>
            </a:r>
            <a:r>
              <a:rPr lang="pt-BR" sz="4950" b="1" kern="0" spc="-15" dirty="0">
                <a:latin typeface="Montserrat ExtraBold"/>
                <a:cs typeface="Montserrat ExtraBold"/>
              </a:rPr>
              <a:t> (XP)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4974645-CFCE-B0C2-8743-786EC21EA384}"/>
              </a:ext>
            </a:extLst>
          </p:cNvPr>
          <p:cNvSpPr txBox="1"/>
          <p:nvPr/>
        </p:nvSpPr>
        <p:spPr>
          <a:xfrm>
            <a:off x="1367760" y="2497044"/>
            <a:ext cx="16454642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XP é baseado em 5 valores fundamentais:</a:t>
            </a:r>
          </a:p>
          <a:p>
            <a:endParaRPr lang="pt-BR" sz="4000" dirty="0"/>
          </a:p>
          <a:p>
            <a:r>
              <a:rPr lang="pt-BR" sz="4000" dirty="0"/>
              <a:t>1️⃣ </a:t>
            </a:r>
            <a:r>
              <a:rPr lang="pt-BR" sz="4000" b="1" dirty="0"/>
              <a:t>Comunicação</a:t>
            </a:r>
            <a:r>
              <a:rPr lang="pt-BR" sz="4000" dirty="0"/>
              <a:t> → A equipe deve se comunicar constantemente para evitar falhas.</a:t>
            </a:r>
          </a:p>
          <a:p>
            <a:endParaRPr lang="pt-BR" sz="4000" dirty="0"/>
          </a:p>
          <a:p>
            <a:r>
              <a:rPr lang="pt-BR" sz="4000" dirty="0"/>
              <a:t>2️⃣ </a:t>
            </a:r>
            <a:r>
              <a:rPr lang="pt-BR" sz="4000" b="1" dirty="0"/>
              <a:t>Simplicidade</a:t>
            </a:r>
            <a:r>
              <a:rPr lang="pt-BR" sz="4000" dirty="0"/>
              <a:t> → O código deve ser o mais simples possível.</a:t>
            </a:r>
          </a:p>
          <a:p>
            <a:endParaRPr lang="pt-BR" sz="4000" dirty="0"/>
          </a:p>
          <a:p>
            <a:r>
              <a:rPr lang="pt-BR" sz="4000" dirty="0"/>
              <a:t>3️⃣ </a:t>
            </a:r>
            <a:r>
              <a:rPr lang="pt-BR" sz="4000" b="1" dirty="0"/>
              <a:t>Feedback</a:t>
            </a:r>
            <a:r>
              <a:rPr lang="pt-BR" sz="4000" dirty="0"/>
              <a:t> → Testes e revisões constantes para garantir qualidade.</a:t>
            </a:r>
          </a:p>
          <a:p>
            <a:endParaRPr lang="pt-BR" sz="4000" dirty="0"/>
          </a:p>
          <a:p>
            <a:r>
              <a:rPr lang="pt-BR" sz="4000" dirty="0"/>
              <a:t>4️⃣ </a:t>
            </a:r>
            <a:r>
              <a:rPr lang="pt-BR" sz="4000" b="1" dirty="0"/>
              <a:t>Coragem</a:t>
            </a:r>
            <a:r>
              <a:rPr lang="pt-BR" sz="4000" dirty="0"/>
              <a:t> → O time deve ter coragem para refatorar código e mudar sempre que necessário.</a:t>
            </a:r>
          </a:p>
          <a:p>
            <a:endParaRPr lang="pt-BR" sz="4000" dirty="0"/>
          </a:p>
          <a:p>
            <a:r>
              <a:rPr lang="pt-BR" sz="4000" dirty="0"/>
              <a:t>5️⃣ </a:t>
            </a:r>
            <a:r>
              <a:rPr lang="pt-BR" sz="4000" b="1" dirty="0"/>
              <a:t>Respeito</a:t>
            </a:r>
            <a:r>
              <a:rPr lang="pt-BR" sz="4000" dirty="0"/>
              <a:t> → Todos na equipe devem se respeitar e trabalhar juntos para um objetivo comum.</a:t>
            </a:r>
          </a:p>
        </p:txBody>
      </p:sp>
    </p:spTree>
    <p:extLst>
      <p:ext uri="{BB962C8B-B14F-4D97-AF65-F5344CB8AC3E}">
        <p14:creationId xmlns:p14="http://schemas.microsoft.com/office/powerpoint/2010/main" val="969493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381BE-9D21-908E-A6D4-A4A66C229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468D26DD-2CCA-F822-EDE9-62E29B9C712D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CA7D44B-9272-6A7D-E713-641A2875AFFE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7401321-4988-E552-38FD-BE9D65EFB368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3E54E2E-CEF5-5656-A1C0-A9AD0F796EC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F5072AD-086E-477C-EE88-C5BCED9FEE94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71">
            <a:extLst>
              <a:ext uri="{FF2B5EF4-FFF2-40B4-BE49-F238E27FC236}">
                <a16:creationId xmlns:a16="http://schemas.microsoft.com/office/drawing/2014/main" id="{A630AA92-E284-4B4C-2299-9AA4579ECBC0}"/>
              </a:ext>
            </a:extLst>
          </p:cNvPr>
          <p:cNvSpPr txBox="1">
            <a:spLocks/>
          </p:cNvSpPr>
          <p:nvPr/>
        </p:nvSpPr>
        <p:spPr>
          <a:xfrm>
            <a:off x="1365250" y="1483623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📌 Práticas do XP 🔧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0F5E307-6F8E-2A6B-FD72-CC3CF28F229B}"/>
              </a:ext>
            </a:extLst>
          </p:cNvPr>
          <p:cNvSpPr txBox="1"/>
          <p:nvPr/>
        </p:nvSpPr>
        <p:spPr>
          <a:xfrm>
            <a:off x="1367760" y="2497044"/>
            <a:ext cx="1645464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XP define várias práticas para garantir qualidade no desenvolvimento de software. As principais são:</a:t>
            </a:r>
          </a:p>
          <a:p>
            <a:endParaRPr lang="pt-BR" sz="4000" dirty="0"/>
          </a:p>
          <a:p>
            <a:r>
              <a:rPr lang="pt-BR" sz="4000" b="1" dirty="0"/>
              <a:t>1️⃣ Desenvolvimento Iterativo e Incremental </a:t>
            </a:r>
            <a:r>
              <a:rPr lang="pt-BR" sz="4000" dirty="0"/>
              <a:t>🔄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O projeto é dividido em pequenas partes, entregues frequentemente ao cliente.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Cada iteração dura 1 a 3 semanas, garantindo entregas constantes.</a:t>
            </a:r>
          </a:p>
        </p:txBody>
      </p:sp>
    </p:spTree>
    <p:extLst>
      <p:ext uri="{BB962C8B-B14F-4D97-AF65-F5344CB8AC3E}">
        <p14:creationId xmlns:p14="http://schemas.microsoft.com/office/powerpoint/2010/main" val="39541077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C3426-1FD5-EF83-E54E-2336682A5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179E9130-4E56-FBF5-B116-B2D3B765F21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60EA6A8-C351-8AF5-4535-F3B19315711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75FFBCE-D8E9-8D39-2577-66B1CDE2E776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7B8B761-42AE-D5FB-C0F8-28ED22CB945C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0A92DBF-D63D-13A8-CE96-01E0DE798AD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71">
            <a:extLst>
              <a:ext uri="{FF2B5EF4-FFF2-40B4-BE49-F238E27FC236}">
                <a16:creationId xmlns:a16="http://schemas.microsoft.com/office/drawing/2014/main" id="{95C3E591-1A01-B763-7109-3BF177F5F68D}"/>
              </a:ext>
            </a:extLst>
          </p:cNvPr>
          <p:cNvSpPr txBox="1">
            <a:spLocks/>
          </p:cNvSpPr>
          <p:nvPr/>
        </p:nvSpPr>
        <p:spPr>
          <a:xfrm>
            <a:off x="1365250" y="1483623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📌 Práticas do XP 🔧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4F62C99-F7F2-7288-0A1D-99FB5DADD98B}"/>
              </a:ext>
            </a:extLst>
          </p:cNvPr>
          <p:cNvSpPr txBox="1"/>
          <p:nvPr/>
        </p:nvSpPr>
        <p:spPr>
          <a:xfrm>
            <a:off x="1367760" y="2497044"/>
            <a:ext cx="1645464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XP define várias práticas para garantir qualidade no desenvolvimento de software. As principais são:</a:t>
            </a:r>
          </a:p>
          <a:p>
            <a:endParaRPr lang="pt-BR" sz="4000" dirty="0"/>
          </a:p>
          <a:p>
            <a:r>
              <a:rPr lang="pt-BR" sz="4000" b="1" dirty="0"/>
              <a:t>2️⃣ Programação em Pares (</a:t>
            </a:r>
            <a:r>
              <a:rPr lang="pt-BR" sz="4000" b="1" dirty="0" err="1"/>
              <a:t>Pair</a:t>
            </a:r>
            <a:r>
              <a:rPr lang="pt-BR" sz="4000" b="1" dirty="0"/>
              <a:t> </a:t>
            </a:r>
            <a:r>
              <a:rPr lang="pt-BR" sz="4000" b="1" dirty="0" err="1"/>
              <a:t>Programming</a:t>
            </a:r>
            <a:r>
              <a:rPr lang="pt-BR" sz="4000" b="1" dirty="0"/>
              <a:t>) 👨‍💻👩‍💻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Dois programadores trabalham no mesmo código ao mesmo tempo.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Um escreve o código e o outro revisa. Depois, trocam de função.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Isso reduz erros e melhora a qualidade do software.</a:t>
            </a:r>
          </a:p>
        </p:txBody>
      </p:sp>
    </p:spTree>
    <p:extLst>
      <p:ext uri="{BB962C8B-B14F-4D97-AF65-F5344CB8AC3E}">
        <p14:creationId xmlns:p14="http://schemas.microsoft.com/office/powerpoint/2010/main" val="7813719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2F876-662D-3589-8B68-C14E117D9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A913477A-528B-8FD5-97AC-C2D7882E473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1138D87-8A3C-5B80-B47C-0B255D62FAFD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EB20E8C-F457-97DC-BE23-ACE176A9284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ED5CFBE-9780-BEC7-CED6-49E5562E50AD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E106D92-961F-8F6A-A1AB-B05276D11DC0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71">
            <a:extLst>
              <a:ext uri="{FF2B5EF4-FFF2-40B4-BE49-F238E27FC236}">
                <a16:creationId xmlns:a16="http://schemas.microsoft.com/office/drawing/2014/main" id="{19AE3D8D-D174-28C0-74C4-FF9EB330C875}"/>
              </a:ext>
            </a:extLst>
          </p:cNvPr>
          <p:cNvSpPr txBox="1">
            <a:spLocks/>
          </p:cNvSpPr>
          <p:nvPr/>
        </p:nvSpPr>
        <p:spPr>
          <a:xfrm>
            <a:off x="1365250" y="1483623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📌 Práticas do XP 🔧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4C486B9-7196-2718-CE75-AEBE5956C871}"/>
              </a:ext>
            </a:extLst>
          </p:cNvPr>
          <p:cNvSpPr txBox="1"/>
          <p:nvPr/>
        </p:nvSpPr>
        <p:spPr>
          <a:xfrm>
            <a:off x="1367760" y="2497044"/>
            <a:ext cx="1645464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XP define várias práticas para garantir qualidade no desenvolvimento de software. As principais são:</a:t>
            </a:r>
          </a:p>
          <a:p>
            <a:endParaRPr lang="pt-BR" sz="4000" dirty="0"/>
          </a:p>
          <a:p>
            <a:r>
              <a:rPr lang="pt-BR" sz="4000" b="1" dirty="0"/>
              <a:t>3️⃣ Testes Automatizados 🧪</a:t>
            </a:r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pt-BR" sz="4000" dirty="0"/>
              <a:t>Os testes são escritos antes do código (TDD - Test </a:t>
            </a:r>
            <a:r>
              <a:rPr lang="pt-BR" sz="4000" dirty="0" err="1"/>
              <a:t>Driven</a:t>
            </a:r>
            <a:r>
              <a:rPr lang="pt-BR" sz="4000" dirty="0"/>
              <a:t> </a:t>
            </a:r>
            <a:r>
              <a:rPr lang="pt-BR" sz="4000" dirty="0" err="1"/>
              <a:t>Development</a:t>
            </a:r>
            <a:r>
              <a:rPr lang="pt-BR" sz="4000" dirty="0"/>
              <a:t>).</a:t>
            </a:r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pt-BR" sz="4000" dirty="0"/>
              <a:t>Isso garante que o código atenda aos requisitos desde o início.</a:t>
            </a:r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pt-BR" sz="4000" dirty="0"/>
              <a:t>Sempre que um bug é encontrado, um teste é criado para evitar que ele ocorra novamente.</a:t>
            </a:r>
          </a:p>
        </p:txBody>
      </p:sp>
    </p:spTree>
    <p:extLst>
      <p:ext uri="{BB962C8B-B14F-4D97-AF65-F5344CB8AC3E}">
        <p14:creationId xmlns:p14="http://schemas.microsoft.com/office/powerpoint/2010/main" val="24830813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19799-585D-FE27-5F0E-A18BF7D94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B6C1B03E-1727-C607-F490-5DC1257C8C68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793F32F-E9BD-4100-7B1E-202C45ED646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BC583B7-4298-D9B4-BB41-D9EEC6F39301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CA3DE06E-60B3-9C31-3422-0E5B3C9BEFCD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A91B817-D6F9-B31D-D907-1AC397F14B24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71">
            <a:extLst>
              <a:ext uri="{FF2B5EF4-FFF2-40B4-BE49-F238E27FC236}">
                <a16:creationId xmlns:a16="http://schemas.microsoft.com/office/drawing/2014/main" id="{A739700E-C14E-12F3-19D2-160A9DBD06E6}"/>
              </a:ext>
            </a:extLst>
          </p:cNvPr>
          <p:cNvSpPr txBox="1">
            <a:spLocks/>
          </p:cNvSpPr>
          <p:nvPr/>
        </p:nvSpPr>
        <p:spPr>
          <a:xfrm>
            <a:off x="1365250" y="1483623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📌 Práticas do XP 🔧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4C73244-B2D5-7637-9DE6-AD85094A3B1F}"/>
              </a:ext>
            </a:extLst>
          </p:cNvPr>
          <p:cNvSpPr txBox="1"/>
          <p:nvPr/>
        </p:nvSpPr>
        <p:spPr>
          <a:xfrm>
            <a:off x="1367760" y="2497044"/>
            <a:ext cx="16454642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XP define várias práticas para garantir qualidade no desenvolvimento de software. As principais são:</a:t>
            </a:r>
          </a:p>
          <a:p>
            <a:endParaRPr lang="pt-BR" sz="4000" dirty="0"/>
          </a:p>
          <a:p>
            <a:r>
              <a:rPr lang="pt-BR" sz="4000" b="1" dirty="0"/>
              <a:t>4️⃣ Refatoração Contínua 🔄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Melhorar constantemente o código, tornando-o mais limpo e eficiente.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O código é sempre atualizado para evitar problemas no futuro.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4000" dirty="0"/>
          </a:p>
          <a:p>
            <a:r>
              <a:rPr lang="pt-BR" sz="4000" b="1" dirty="0"/>
              <a:t>5️⃣ Integração Contínua 🔗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O código é integrado e testado várias vezes ao dia.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Isso evita surpresas e reduz conflitos entre diferentes partes do sistema.</a:t>
            </a:r>
          </a:p>
        </p:txBody>
      </p:sp>
    </p:spTree>
    <p:extLst>
      <p:ext uri="{BB962C8B-B14F-4D97-AF65-F5344CB8AC3E}">
        <p14:creationId xmlns:p14="http://schemas.microsoft.com/office/powerpoint/2010/main" val="21068464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B56C8-AC51-EAD3-5989-4B0257AF2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B0FB9C70-F81B-E261-DD92-B23F37E75877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B7010AD-F0CE-16CB-D414-3124239B7D64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C2D46A3-A848-3278-C43F-5B01062BEF1B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093AECE-91A2-8BFC-84E9-1396379871A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B5B83B7-CB4E-85D7-2C69-DD066939653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71">
            <a:extLst>
              <a:ext uri="{FF2B5EF4-FFF2-40B4-BE49-F238E27FC236}">
                <a16:creationId xmlns:a16="http://schemas.microsoft.com/office/drawing/2014/main" id="{0F0B2F2A-93E4-9CCE-9FAD-922D31B3F38C}"/>
              </a:ext>
            </a:extLst>
          </p:cNvPr>
          <p:cNvSpPr txBox="1">
            <a:spLocks/>
          </p:cNvSpPr>
          <p:nvPr/>
        </p:nvSpPr>
        <p:spPr>
          <a:xfrm>
            <a:off x="1365250" y="1483623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📌 Práticas do XP 🔧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C8918FB-8E47-B4C7-6509-50313F305FEE}"/>
              </a:ext>
            </a:extLst>
          </p:cNvPr>
          <p:cNvSpPr txBox="1"/>
          <p:nvPr/>
        </p:nvSpPr>
        <p:spPr>
          <a:xfrm>
            <a:off x="1367760" y="2497044"/>
            <a:ext cx="16454642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XP define várias práticas para garantir qualidade no desenvolvimento de software. As principais são:</a:t>
            </a:r>
          </a:p>
          <a:p>
            <a:endParaRPr lang="pt-BR" sz="4000" dirty="0"/>
          </a:p>
          <a:p>
            <a:r>
              <a:rPr lang="pt-BR" sz="4000" b="1" dirty="0"/>
              <a:t>6️⃣ Feedback Rápido ⚡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O cliente está sempre envolvido no projeto, dando feedback constante.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As mudanças são feitas rapidamente, evitando atrasos.</a:t>
            </a:r>
          </a:p>
          <a:p>
            <a:endParaRPr lang="pt-BR" sz="4000" b="1" dirty="0"/>
          </a:p>
          <a:p>
            <a:r>
              <a:rPr lang="pt-BR" sz="4000" b="1" dirty="0"/>
              <a:t>7️⃣ Ritmo Sustentável (Trabalho Sem Excesso) 🏃‍♂️💨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O XP evita horas extras excessivas para manter a equipe produtiva no longo prazo.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Trabalhar demais pode levar a código ruim e muitos erros.</a:t>
            </a:r>
          </a:p>
        </p:txBody>
      </p:sp>
    </p:spTree>
    <p:extLst>
      <p:ext uri="{BB962C8B-B14F-4D97-AF65-F5344CB8AC3E}">
        <p14:creationId xmlns:p14="http://schemas.microsoft.com/office/powerpoint/2010/main" val="35988439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57037-35A5-CF59-7E79-13A050F06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33C6A79-2DC6-0030-166E-A375357DEAED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9DF4A87-928D-6793-AB2C-C79A2AFF1198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28D28C6-73EC-04E3-D013-F1B9D5CE2DD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FB3071F-C22C-FBFC-E264-8E0486907CCF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CD606DA-B98A-C1B5-336E-1A5B5BEC27E7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71">
            <a:extLst>
              <a:ext uri="{FF2B5EF4-FFF2-40B4-BE49-F238E27FC236}">
                <a16:creationId xmlns:a16="http://schemas.microsoft.com/office/drawing/2014/main" id="{38D0BE6F-EA54-7991-ACF2-3FF34EAA6C21}"/>
              </a:ext>
            </a:extLst>
          </p:cNvPr>
          <p:cNvSpPr txBox="1">
            <a:spLocks/>
          </p:cNvSpPr>
          <p:nvPr/>
        </p:nvSpPr>
        <p:spPr>
          <a:xfrm>
            <a:off x="1365250" y="1483623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📌 Práticas do XP 🔧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B2FA2A8-1379-8375-7C35-9151B035A07C}"/>
              </a:ext>
            </a:extLst>
          </p:cNvPr>
          <p:cNvSpPr txBox="1"/>
          <p:nvPr/>
        </p:nvSpPr>
        <p:spPr>
          <a:xfrm>
            <a:off x="1367760" y="2497044"/>
            <a:ext cx="16454642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XP define várias práticas para garantir qualidade no desenvolvimento de software. As principais são:</a:t>
            </a:r>
          </a:p>
          <a:p>
            <a:endParaRPr lang="pt-BR" sz="4000" dirty="0"/>
          </a:p>
          <a:p>
            <a:r>
              <a:rPr lang="pt-BR" sz="4000" b="1" dirty="0"/>
              <a:t>8️⃣ Propriedade Coletiva do Código 👥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Todos os programadores podem modificar qualquer parte do código.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Isso evita que apenas uma pessoa seja responsável por um trecho do sistema.</a:t>
            </a:r>
          </a:p>
          <a:p>
            <a:endParaRPr lang="pt-BR" sz="4000" b="1" dirty="0"/>
          </a:p>
          <a:p>
            <a:r>
              <a:rPr lang="pt-BR" sz="4000" b="1" dirty="0"/>
              <a:t>9️⃣ Cliente Sempre Presente 👨‍💼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O cliente trabalha lado a lado com a equipe, ajudando a definir prioridades.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Isso garante que o produto final atenda às expectativas</a:t>
            </a:r>
          </a:p>
        </p:txBody>
      </p:sp>
    </p:spTree>
    <p:extLst>
      <p:ext uri="{BB962C8B-B14F-4D97-AF65-F5344CB8AC3E}">
        <p14:creationId xmlns:p14="http://schemas.microsoft.com/office/powerpoint/2010/main" val="35688625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0AC75-AA8A-0AAD-ACB2-98383A37C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3733D0A3-2996-04DB-2A4E-822D8630909B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0D2F302-38D9-4D9A-829D-D59088338CA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FB347FD-11CD-E6C4-519B-19D4EECCC209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BB3A256-841F-9361-11D7-DCE274D3169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5CB39E6-91F3-5D18-24A2-AB302F17E8D6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71">
            <a:extLst>
              <a:ext uri="{FF2B5EF4-FFF2-40B4-BE49-F238E27FC236}">
                <a16:creationId xmlns:a16="http://schemas.microsoft.com/office/drawing/2014/main" id="{93F81DC9-EEAD-BBF9-D50C-183D485B2E8F}"/>
              </a:ext>
            </a:extLst>
          </p:cNvPr>
          <p:cNvSpPr txBox="1">
            <a:spLocks/>
          </p:cNvSpPr>
          <p:nvPr/>
        </p:nvSpPr>
        <p:spPr>
          <a:xfrm>
            <a:off x="1367760" y="1186180"/>
            <a:ext cx="13868400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📌 Como Funciona o Fluxo de Trabalho do XP?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72322A7-B358-2187-0372-28432756DA97}"/>
              </a:ext>
            </a:extLst>
          </p:cNvPr>
          <p:cNvSpPr txBox="1"/>
          <p:nvPr/>
        </p:nvSpPr>
        <p:spPr>
          <a:xfrm>
            <a:off x="1367760" y="2987675"/>
            <a:ext cx="16454642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1️⃣ O cliente define </a:t>
            </a:r>
            <a:r>
              <a:rPr lang="pt-BR" sz="4000" b="1" dirty="0"/>
              <a:t>histórias de usuário</a:t>
            </a:r>
            <a:r>
              <a:rPr lang="pt-BR" sz="4000" dirty="0"/>
              <a:t> (funcionalidades que deseja).</a:t>
            </a:r>
          </a:p>
          <a:p>
            <a:br>
              <a:rPr lang="pt-BR" sz="4000" dirty="0"/>
            </a:br>
            <a:r>
              <a:rPr lang="pt-BR" sz="4000" dirty="0"/>
              <a:t>2️⃣ A equipe discute e define as prioridades.</a:t>
            </a:r>
          </a:p>
          <a:p>
            <a:br>
              <a:rPr lang="pt-BR" sz="4000" dirty="0"/>
            </a:br>
            <a:r>
              <a:rPr lang="pt-BR" sz="4000" dirty="0"/>
              <a:t>3️⃣ Os desenvolvedores escrevem </a:t>
            </a:r>
            <a:r>
              <a:rPr lang="pt-BR" sz="4000" b="1" dirty="0"/>
              <a:t>testes antes do código</a:t>
            </a:r>
            <a:r>
              <a:rPr lang="pt-BR" sz="4000" dirty="0"/>
              <a:t> (TDD).</a:t>
            </a:r>
          </a:p>
          <a:p>
            <a:br>
              <a:rPr lang="pt-BR" sz="4000" dirty="0"/>
            </a:br>
            <a:r>
              <a:rPr lang="pt-BR" sz="4000" dirty="0"/>
              <a:t>4️⃣ O código é </a:t>
            </a:r>
            <a:r>
              <a:rPr lang="pt-BR" sz="4000" b="1" dirty="0"/>
              <a:t>desenvolvido em pares</a:t>
            </a:r>
            <a:r>
              <a:rPr lang="pt-BR" sz="4000" dirty="0"/>
              <a:t> e </a:t>
            </a:r>
            <a:r>
              <a:rPr lang="pt-BR" sz="4000" b="1" dirty="0"/>
              <a:t>integrado constantemente</a:t>
            </a:r>
            <a:r>
              <a:rPr lang="pt-BR" sz="4000" dirty="0"/>
              <a:t>.</a:t>
            </a:r>
          </a:p>
          <a:p>
            <a:br>
              <a:rPr lang="pt-BR" sz="4000" dirty="0"/>
            </a:br>
            <a:r>
              <a:rPr lang="pt-BR" sz="4000" dirty="0"/>
              <a:t>5️⃣ As funcionalidades são entregues em </a:t>
            </a:r>
            <a:r>
              <a:rPr lang="pt-BR" sz="4000" b="1" dirty="0"/>
              <a:t>pequenas iterações</a:t>
            </a:r>
            <a:r>
              <a:rPr lang="pt-BR" sz="4000" dirty="0"/>
              <a:t> (cada 1-3 semanas).</a:t>
            </a:r>
          </a:p>
          <a:p>
            <a:br>
              <a:rPr lang="pt-BR" sz="4000" dirty="0"/>
            </a:br>
            <a:r>
              <a:rPr lang="pt-BR" sz="4000" dirty="0"/>
              <a:t>6️⃣ O cliente testa e dá </a:t>
            </a:r>
            <a:r>
              <a:rPr lang="pt-BR" sz="4000" b="1" dirty="0"/>
              <a:t>feedback contínuo</a:t>
            </a:r>
            <a:r>
              <a:rPr lang="pt-BR" sz="4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316888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3902B-E68D-5B8D-91AD-60BCE3207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FB2F10FF-1AFC-9A18-CB38-4A1E3C9B050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79F307B-C2BD-65ED-19E3-5FE37D2403CC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FC427D5-8191-DF4E-8578-A1271DC18704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F43E1631-372B-F4CB-6ED8-7B0DD8CEE4B0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8908FF8-9A5A-1346-7255-A3EC1F8A4DC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71">
            <a:extLst>
              <a:ext uri="{FF2B5EF4-FFF2-40B4-BE49-F238E27FC236}">
                <a16:creationId xmlns:a16="http://schemas.microsoft.com/office/drawing/2014/main" id="{F2A881BC-0D6D-B81F-B1DB-1DA3499030C9}"/>
              </a:ext>
            </a:extLst>
          </p:cNvPr>
          <p:cNvSpPr txBox="1">
            <a:spLocks/>
          </p:cNvSpPr>
          <p:nvPr/>
        </p:nvSpPr>
        <p:spPr>
          <a:xfrm>
            <a:off x="1367760" y="1186180"/>
            <a:ext cx="13868400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📌 Vantagens do Extreme </a:t>
            </a:r>
            <a:r>
              <a:rPr lang="pt-BR" sz="4950" b="1" kern="0" spc="-15" dirty="0" err="1">
                <a:latin typeface="Montserrat ExtraBold"/>
                <a:cs typeface="Montserrat ExtraBold"/>
              </a:rPr>
              <a:t>Programming</a:t>
            </a:r>
            <a:r>
              <a:rPr lang="pt-BR" sz="4950" b="1" kern="0" spc="-15" dirty="0">
                <a:latin typeface="Montserrat ExtraBold"/>
                <a:cs typeface="Montserrat ExtraBold"/>
              </a:rPr>
              <a:t> (XP) ✅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79777FD-0BA8-2017-D88F-4F87C0111880}"/>
              </a:ext>
            </a:extLst>
          </p:cNvPr>
          <p:cNvSpPr txBox="1"/>
          <p:nvPr/>
        </p:nvSpPr>
        <p:spPr>
          <a:xfrm>
            <a:off x="1367760" y="2987675"/>
            <a:ext cx="16454642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✔ </a:t>
            </a:r>
            <a:r>
              <a:rPr lang="pt-BR" sz="4000" b="1" dirty="0"/>
              <a:t>Alta qualidade do código </a:t>
            </a:r>
            <a:r>
              <a:rPr lang="pt-BR" sz="4000" dirty="0"/>
              <a:t>→ Testes constantes evitam bugs.</a:t>
            </a:r>
          </a:p>
          <a:p>
            <a:endParaRPr lang="pt-BR" sz="4000" dirty="0"/>
          </a:p>
          <a:p>
            <a:r>
              <a:rPr lang="pt-BR" sz="4000" dirty="0"/>
              <a:t>✔ </a:t>
            </a:r>
            <a:r>
              <a:rPr lang="pt-BR" sz="4000" b="1" dirty="0"/>
              <a:t>Flexibilidade</a:t>
            </a:r>
            <a:r>
              <a:rPr lang="pt-BR" sz="4000" dirty="0"/>
              <a:t> → Fácil adaptação a mudanças nos requisitos.</a:t>
            </a:r>
          </a:p>
          <a:p>
            <a:endParaRPr lang="pt-BR" sz="4000" dirty="0"/>
          </a:p>
          <a:p>
            <a:r>
              <a:rPr lang="pt-BR" sz="4000" dirty="0"/>
              <a:t>✔ </a:t>
            </a:r>
            <a:r>
              <a:rPr lang="pt-BR" sz="4000" b="1" dirty="0"/>
              <a:t>Entrega rápida e contínua </a:t>
            </a:r>
            <a:r>
              <a:rPr lang="pt-BR" sz="4000" dirty="0"/>
              <a:t>→ O cliente recebe novas funcionalidades frequentemente.</a:t>
            </a:r>
          </a:p>
          <a:p>
            <a:endParaRPr lang="pt-BR" sz="4000" dirty="0"/>
          </a:p>
          <a:p>
            <a:r>
              <a:rPr lang="pt-BR" sz="4000" dirty="0"/>
              <a:t>✔ </a:t>
            </a:r>
            <a:r>
              <a:rPr lang="pt-BR" sz="4000" b="1" dirty="0"/>
              <a:t>Colaboração intensa </a:t>
            </a:r>
            <a:r>
              <a:rPr lang="pt-BR" sz="4000" dirty="0"/>
              <a:t>→ Programação em pares melhora a qualidade do código.</a:t>
            </a:r>
          </a:p>
          <a:p>
            <a:endParaRPr lang="pt-BR" sz="4000" dirty="0"/>
          </a:p>
          <a:p>
            <a:r>
              <a:rPr lang="pt-BR" sz="4000" dirty="0"/>
              <a:t>✔ </a:t>
            </a:r>
            <a:r>
              <a:rPr lang="pt-BR" sz="4000" b="1" dirty="0"/>
              <a:t>Redução de riscos </a:t>
            </a:r>
            <a:r>
              <a:rPr lang="pt-BR" sz="4000" dirty="0"/>
              <a:t>→ Testes automatizados garantem que o sistema funcione corretamente.</a:t>
            </a:r>
          </a:p>
        </p:txBody>
      </p:sp>
    </p:spTree>
    <p:extLst>
      <p:ext uri="{BB962C8B-B14F-4D97-AF65-F5344CB8AC3E}">
        <p14:creationId xmlns:p14="http://schemas.microsoft.com/office/powerpoint/2010/main" val="10066068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8CEC7-9220-0550-2FAB-72205C97B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CBA5145-658A-3B79-8417-0579321FEAC0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0CE7F69-2DE4-8950-7A54-3434824D58EC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8028DD1-215C-8EBA-8804-BDE61A40454C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3D5B306-C119-2B40-8A87-0FBA90C0E82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6F52BC4-52C4-7F38-A7CF-2EECC2C7CA12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71">
            <a:extLst>
              <a:ext uri="{FF2B5EF4-FFF2-40B4-BE49-F238E27FC236}">
                <a16:creationId xmlns:a16="http://schemas.microsoft.com/office/drawing/2014/main" id="{0BD58A71-EC50-7D27-C61C-B062FC755D4A}"/>
              </a:ext>
            </a:extLst>
          </p:cNvPr>
          <p:cNvSpPr txBox="1">
            <a:spLocks/>
          </p:cNvSpPr>
          <p:nvPr/>
        </p:nvSpPr>
        <p:spPr>
          <a:xfrm>
            <a:off x="1367760" y="1186180"/>
            <a:ext cx="13868400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📌 Desafios do XP ❌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F8FC4AF-A1FB-1286-1E58-1E5BD9D99A55}"/>
              </a:ext>
            </a:extLst>
          </p:cNvPr>
          <p:cNvSpPr txBox="1"/>
          <p:nvPr/>
        </p:nvSpPr>
        <p:spPr>
          <a:xfrm>
            <a:off x="1367760" y="2987675"/>
            <a:ext cx="1645464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❌ </a:t>
            </a:r>
            <a:r>
              <a:rPr lang="pt-BR" sz="4000" b="1" dirty="0"/>
              <a:t>Requer disciplina </a:t>
            </a:r>
            <a:r>
              <a:rPr lang="pt-BR" sz="4000" dirty="0"/>
              <a:t>→ Sem testes constantes, o XP perde eficiência.</a:t>
            </a:r>
          </a:p>
          <a:p>
            <a:endParaRPr lang="pt-BR" sz="4000" dirty="0"/>
          </a:p>
          <a:p>
            <a:r>
              <a:rPr lang="pt-BR" sz="4000" dirty="0"/>
              <a:t>❌ </a:t>
            </a:r>
            <a:r>
              <a:rPr lang="pt-BR" sz="4000" b="1" dirty="0"/>
              <a:t>Difícil para times grandes </a:t>
            </a:r>
            <a:r>
              <a:rPr lang="pt-BR" sz="4000" dirty="0"/>
              <a:t>→ Melhor para pequenas equipes.</a:t>
            </a:r>
          </a:p>
          <a:p>
            <a:endParaRPr lang="pt-BR" sz="4000" dirty="0"/>
          </a:p>
          <a:p>
            <a:r>
              <a:rPr lang="pt-BR" sz="4000" dirty="0"/>
              <a:t>❌ </a:t>
            </a:r>
            <a:r>
              <a:rPr lang="pt-BR" sz="4000" b="1" dirty="0"/>
              <a:t>Pode ser cansativo </a:t>
            </a:r>
            <a:r>
              <a:rPr lang="pt-BR" sz="4000" dirty="0"/>
              <a:t>→ Programação em pares pode ser desgastante.</a:t>
            </a:r>
          </a:p>
          <a:p>
            <a:endParaRPr lang="pt-BR" sz="4000" dirty="0"/>
          </a:p>
          <a:p>
            <a:r>
              <a:rPr lang="pt-BR" sz="4000" dirty="0"/>
              <a:t>❌ </a:t>
            </a:r>
            <a:r>
              <a:rPr lang="pt-BR" sz="4000" b="1" dirty="0"/>
              <a:t>Depende do cliente estar sempre presente </a:t>
            </a:r>
            <a:r>
              <a:rPr lang="pt-BR" sz="4000" dirty="0"/>
              <a:t>→ Se o cliente não participa ativamente, o processo pode falhar.</a:t>
            </a:r>
          </a:p>
        </p:txBody>
      </p:sp>
    </p:spTree>
    <p:extLst>
      <p:ext uri="{BB962C8B-B14F-4D97-AF65-F5344CB8AC3E}">
        <p14:creationId xmlns:p14="http://schemas.microsoft.com/office/powerpoint/2010/main" val="19805639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92458-87E3-86CB-17B6-5D7ED4B4B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183E8650-B66B-1B05-8422-DFCD8B38ACF4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86DBDCE-27DE-28DC-671F-EFD2B0261D68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3C7CBF7-A781-C388-2844-5C8C027F2E63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14647DE-E128-6835-0E24-98B128004760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1C0B271-0EA9-3DF3-518C-85BD6979B7CC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71">
            <a:extLst>
              <a:ext uri="{FF2B5EF4-FFF2-40B4-BE49-F238E27FC236}">
                <a16:creationId xmlns:a16="http://schemas.microsoft.com/office/drawing/2014/main" id="{3FAB1E9E-B455-0EA2-2586-3F94E62C0CA0}"/>
              </a:ext>
            </a:extLst>
          </p:cNvPr>
          <p:cNvSpPr txBox="1">
            <a:spLocks/>
          </p:cNvSpPr>
          <p:nvPr/>
        </p:nvSpPr>
        <p:spPr>
          <a:xfrm>
            <a:off x="1367760" y="1186180"/>
            <a:ext cx="13868400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📌 Diferença entre XP e Scrum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1196506-3A8F-5437-5C21-E2EB27406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9294" y="3918186"/>
            <a:ext cx="16465512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788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C4266-DCFB-4DB1-7234-DD87029E3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11145485-D78F-CFF5-4173-ED3E9108D554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4165CD0-5508-8D43-C029-EB7C6A9467B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A944741-B953-22E3-B02A-45EACE7AC734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2D33A04-191F-BBF1-0C33-81E583C9AF6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6BB2EAD-8C21-7456-5192-E5D89E202F72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26" name="Picture 2" descr="Lean Software Development: What Is It &amp; How Does It Work?">
            <a:extLst>
              <a:ext uri="{FF2B5EF4-FFF2-40B4-BE49-F238E27FC236}">
                <a16:creationId xmlns:a16="http://schemas.microsoft.com/office/drawing/2014/main" id="{021B9B38-CAD9-41D8-0EA8-25D150EC2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450" y="2447662"/>
            <a:ext cx="1301115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39036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B9143-4E4B-4ED8-19D3-265CC2A78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27630AE8-708E-83CF-2BE4-ABC4A8E0F222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C94159A-C4B1-BB18-1DCA-9F0D2BBDB9AC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8A4810A-12ED-D044-9943-F83F5647E14B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4E270B2-6A77-13B7-32A2-DEC8ED1C7991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B7C5AAC-FB55-A1B0-03A1-A2CABA174BA3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71">
            <a:extLst>
              <a:ext uri="{FF2B5EF4-FFF2-40B4-BE49-F238E27FC236}">
                <a16:creationId xmlns:a16="http://schemas.microsoft.com/office/drawing/2014/main" id="{EE5320CA-26A7-A51E-4BF0-0C36E73AD3EF}"/>
              </a:ext>
            </a:extLst>
          </p:cNvPr>
          <p:cNvSpPr txBox="1">
            <a:spLocks/>
          </p:cNvSpPr>
          <p:nvPr/>
        </p:nvSpPr>
        <p:spPr>
          <a:xfrm>
            <a:off x="1365250" y="1105314"/>
            <a:ext cx="14957223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Lean </a:t>
            </a:r>
            <a:r>
              <a:rPr lang="pt-BR" sz="4950" b="1" kern="0" spc="-15" dirty="0" err="1">
                <a:latin typeface="Montserrat ExtraBold"/>
                <a:cs typeface="Montserrat ExtraBold"/>
              </a:rPr>
              <a:t>Development</a:t>
            </a:r>
            <a:r>
              <a:rPr lang="pt-BR" sz="4950" b="1" kern="0" spc="-15" dirty="0">
                <a:latin typeface="Montserrat ExtraBold"/>
                <a:cs typeface="Montserrat ExtraBold"/>
              </a:rPr>
              <a:t> – Desenvolvimento Enxuto 🚀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BCE0EA7-8675-7866-A84D-58A1637AFFF9}"/>
              </a:ext>
            </a:extLst>
          </p:cNvPr>
          <p:cNvSpPr txBox="1"/>
          <p:nvPr/>
        </p:nvSpPr>
        <p:spPr>
          <a:xfrm>
            <a:off x="1367760" y="2987675"/>
            <a:ext cx="1645464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O Lean </a:t>
            </a:r>
            <a:r>
              <a:rPr lang="pt-BR" sz="4000" b="1" dirty="0" err="1"/>
              <a:t>Development</a:t>
            </a:r>
            <a:r>
              <a:rPr lang="pt-BR" sz="4000" b="1" dirty="0"/>
              <a:t> (Desenvolvimento Enxuto) </a:t>
            </a:r>
            <a:r>
              <a:rPr lang="pt-BR" sz="4000" dirty="0"/>
              <a:t>é uma metodologia ágil inspirada no </a:t>
            </a:r>
            <a:r>
              <a:rPr lang="pt-BR" sz="4000" b="1" dirty="0"/>
              <a:t>Sistema Toyota de Produção</a:t>
            </a:r>
            <a:r>
              <a:rPr lang="pt-BR" sz="4000" dirty="0"/>
              <a:t>, </a:t>
            </a:r>
            <a:r>
              <a:rPr lang="pt-BR" sz="4000" b="1" dirty="0"/>
              <a:t>focando na eliminação de desperdícios, entregas rápidas e melhoria contínua</a:t>
            </a:r>
            <a:r>
              <a:rPr lang="pt-BR" sz="4000" dirty="0"/>
              <a:t>.</a:t>
            </a:r>
          </a:p>
          <a:p>
            <a:endParaRPr lang="pt-BR" sz="4000" dirty="0"/>
          </a:p>
          <a:p>
            <a:r>
              <a:rPr lang="pt-BR" sz="4000" b="1" dirty="0"/>
              <a:t>Diferente do Scrum e do Extreme </a:t>
            </a:r>
            <a:r>
              <a:rPr lang="pt-BR" sz="4000" b="1" dirty="0" err="1"/>
              <a:t>Programming</a:t>
            </a:r>
            <a:r>
              <a:rPr lang="pt-BR" sz="4000" b="1" dirty="0"/>
              <a:t> (XP), que são mais estruturados</a:t>
            </a:r>
            <a:r>
              <a:rPr lang="pt-BR" sz="4000" dirty="0"/>
              <a:t>, o Lean é um conjunto de princípios que guiam o desenvolvimento de software de forma enxuta e eficiente.</a:t>
            </a:r>
          </a:p>
        </p:txBody>
      </p:sp>
    </p:spTree>
    <p:extLst>
      <p:ext uri="{BB962C8B-B14F-4D97-AF65-F5344CB8AC3E}">
        <p14:creationId xmlns:p14="http://schemas.microsoft.com/office/powerpoint/2010/main" val="40972740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82091-49F6-BE6D-99AD-BED25B818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9289B45D-6390-C8E5-87D2-2374B08D39D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58FE716-56B3-3C2D-BD45-A8E87A37F39E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E3739D5-E12F-162C-1A3D-4A3B48C0C6D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6CE61B2-F14E-BA66-2F17-53F448510160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462804A-EA89-6631-3099-6C3E96B47B69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71">
            <a:extLst>
              <a:ext uri="{FF2B5EF4-FFF2-40B4-BE49-F238E27FC236}">
                <a16:creationId xmlns:a16="http://schemas.microsoft.com/office/drawing/2014/main" id="{D8F8E46F-BE65-7CCB-617F-B8BB34CA44DA}"/>
              </a:ext>
            </a:extLst>
          </p:cNvPr>
          <p:cNvSpPr txBox="1">
            <a:spLocks/>
          </p:cNvSpPr>
          <p:nvPr/>
        </p:nvSpPr>
        <p:spPr>
          <a:xfrm>
            <a:off x="1365250" y="1105314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📌 Princípios do Lean </a:t>
            </a:r>
            <a:r>
              <a:rPr lang="pt-BR" sz="4950" b="1" kern="0" spc="-15" dirty="0" err="1">
                <a:latin typeface="Montserrat ExtraBold"/>
                <a:cs typeface="Montserrat ExtraBold"/>
              </a:rPr>
              <a:t>Development</a:t>
            </a:r>
            <a:endParaRPr lang="pt-BR" sz="4950" b="1" kern="0" spc="-15" dirty="0">
              <a:latin typeface="Montserrat ExtraBold"/>
              <a:cs typeface="Montserrat ExtraBold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A4F743F-BA85-2B9D-FD04-C40AA1127557}"/>
              </a:ext>
            </a:extLst>
          </p:cNvPr>
          <p:cNvSpPr txBox="1"/>
          <p:nvPr/>
        </p:nvSpPr>
        <p:spPr>
          <a:xfrm>
            <a:off x="1367760" y="2987675"/>
            <a:ext cx="1645464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Lean </a:t>
            </a:r>
            <a:r>
              <a:rPr lang="pt-BR" sz="4000" dirty="0" err="1"/>
              <a:t>Development</a:t>
            </a:r>
            <a:r>
              <a:rPr lang="pt-BR" sz="4000" dirty="0"/>
              <a:t> segue 7 princípios fundamentais, que ajudam a maximizar valor e eliminar desperdícios no desenvolvimento de software:</a:t>
            </a:r>
          </a:p>
          <a:p>
            <a:endParaRPr lang="pt-BR" sz="4000" b="1" dirty="0"/>
          </a:p>
          <a:p>
            <a:r>
              <a:rPr lang="pt-BR" sz="4000" b="1" dirty="0"/>
              <a:t>1️⃣ Eliminar desperdício (</a:t>
            </a:r>
            <a:r>
              <a:rPr lang="pt-BR" sz="4000" b="1" dirty="0" err="1"/>
              <a:t>Waste</a:t>
            </a:r>
            <a:r>
              <a:rPr lang="pt-BR" sz="4000" b="1" dirty="0"/>
              <a:t> </a:t>
            </a:r>
            <a:r>
              <a:rPr lang="pt-BR" sz="4000" b="1" dirty="0" err="1"/>
              <a:t>Reduction</a:t>
            </a:r>
            <a:r>
              <a:rPr lang="pt-BR" sz="4000" b="1" dirty="0"/>
              <a:t>) 🚮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Evitar funcionalidades desnecessárias.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Reduzir burocracia e tarefas sem valor.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Minimizar tempo gasto com código não utilizado.</a:t>
            </a:r>
          </a:p>
        </p:txBody>
      </p:sp>
    </p:spTree>
    <p:extLst>
      <p:ext uri="{BB962C8B-B14F-4D97-AF65-F5344CB8AC3E}">
        <p14:creationId xmlns:p14="http://schemas.microsoft.com/office/powerpoint/2010/main" val="42852599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F55DC-A217-4033-8AEA-AE777D173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7E203D04-42F6-3CC6-2577-BF33299F6525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431C776-C400-C6E0-E41E-3084A09B4E5C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47B1A7A-CC97-E477-E2FD-780BAAEA4480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39C53FB-12E1-62DE-3F31-175FFF1D8C2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FCF234A-D6C0-6615-41A1-16DECB7D6C1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71">
            <a:extLst>
              <a:ext uri="{FF2B5EF4-FFF2-40B4-BE49-F238E27FC236}">
                <a16:creationId xmlns:a16="http://schemas.microsoft.com/office/drawing/2014/main" id="{CE965000-EE27-9879-C778-70ED7D953CBD}"/>
              </a:ext>
            </a:extLst>
          </p:cNvPr>
          <p:cNvSpPr txBox="1">
            <a:spLocks/>
          </p:cNvSpPr>
          <p:nvPr/>
        </p:nvSpPr>
        <p:spPr>
          <a:xfrm>
            <a:off x="1365250" y="1105314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📌 Princípios do Lean </a:t>
            </a:r>
            <a:r>
              <a:rPr lang="pt-BR" sz="4950" b="1" kern="0" spc="-15" dirty="0" err="1">
                <a:latin typeface="Montserrat ExtraBold"/>
                <a:cs typeface="Montserrat ExtraBold"/>
              </a:rPr>
              <a:t>Development</a:t>
            </a:r>
            <a:endParaRPr lang="pt-BR" sz="4950" b="1" kern="0" spc="-15" dirty="0">
              <a:latin typeface="Montserrat ExtraBold"/>
              <a:cs typeface="Montserrat ExtraBold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90CC2FD-F4B2-AB3F-4B7E-65700B7F70F4}"/>
              </a:ext>
            </a:extLst>
          </p:cNvPr>
          <p:cNvSpPr txBox="1"/>
          <p:nvPr/>
        </p:nvSpPr>
        <p:spPr>
          <a:xfrm>
            <a:off x="1367760" y="2987675"/>
            <a:ext cx="1645464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2️⃣ Criar qualidade desde o início ✅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Código limpo e bem estruturado desde o começo.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Testes contínuos para evitar retrabalho.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Prevenir bugs ao invés de corrigi-los depois.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4000" dirty="0"/>
          </a:p>
          <a:p>
            <a:r>
              <a:rPr lang="pt-BR" sz="4000" b="1" dirty="0"/>
              <a:t>3️⃣ Aprender continuamente 📚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Melhorar processos a partir da experiência.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Adotar mudanças rapidamente com base no aprendizado.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Usar feedback de clientes e equipe para evoluir.</a:t>
            </a:r>
          </a:p>
        </p:txBody>
      </p:sp>
    </p:spTree>
    <p:extLst>
      <p:ext uri="{BB962C8B-B14F-4D97-AF65-F5344CB8AC3E}">
        <p14:creationId xmlns:p14="http://schemas.microsoft.com/office/powerpoint/2010/main" val="17331466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21541-87A0-0166-4488-4FAD01080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41219549-90B7-AF23-89A1-667EEE29F0AB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7D509FA-3159-BCFD-FB72-7041259CF8E8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74BF45C-F7AF-22D5-1D33-BD85A8D5FBB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EBB6489-90F1-0CF0-EC22-D9F6C2156D6F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C1B923C-752F-3B95-9101-206A5EFDD92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71">
            <a:extLst>
              <a:ext uri="{FF2B5EF4-FFF2-40B4-BE49-F238E27FC236}">
                <a16:creationId xmlns:a16="http://schemas.microsoft.com/office/drawing/2014/main" id="{E3A562FA-05EB-8D1D-42C1-7E04BFA090C5}"/>
              </a:ext>
            </a:extLst>
          </p:cNvPr>
          <p:cNvSpPr txBox="1">
            <a:spLocks/>
          </p:cNvSpPr>
          <p:nvPr/>
        </p:nvSpPr>
        <p:spPr>
          <a:xfrm>
            <a:off x="1365250" y="1105314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📌 Princípios do Lean </a:t>
            </a:r>
            <a:r>
              <a:rPr lang="pt-BR" sz="4950" b="1" kern="0" spc="-15" dirty="0" err="1">
                <a:latin typeface="Montserrat ExtraBold"/>
                <a:cs typeface="Montserrat ExtraBold"/>
              </a:rPr>
              <a:t>Development</a:t>
            </a:r>
            <a:endParaRPr lang="pt-BR" sz="4950" b="1" kern="0" spc="-15" dirty="0">
              <a:latin typeface="Montserrat ExtraBold"/>
              <a:cs typeface="Montserrat ExtraBold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76088C4-07D8-C736-F8AD-31D140DF87BA}"/>
              </a:ext>
            </a:extLst>
          </p:cNvPr>
          <p:cNvSpPr txBox="1"/>
          <p:nvPr/>
        </p:nvSpPr>
        <p:spPr>
          <a:xfrm>
            <a:off x="1367760" y="2987675"/>
            <a:ext cx="1645464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4️⃣ Decidir o mais tarde possível ⏳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Adiar decisões complexas até ter informações suficientes.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Evita retrabalho e decisões erradas baseadas em suposições.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Permite maior flexibilidade para mudanças.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4000" dirty="0"/>
          </a:p>
          <a:p>
            <a:r>
              <a:rPr lang="pt-BR" sz="4000" b="1" dirty="0"/>
              <a:t>5️⃣ Entregar rápido 🚀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Pequenas entregas constantes.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Redução de tempo entre desenvolvimento e uso real.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Feedback mais rápido do cliente para ajustes rápidos.</a:t>
            </a:r>
          </a:p>
        </p:txBody>
      </p:sp>
    </p:spTree>
    <p:extLst>
      <p:ext uri="{BB962C8B-B14F-4D97-AF65-F5344CB8AC3E}">
        <p14:creationId xmlns:p14="http://schemas.microsoft.com/office/powerpoint/2010/main" val="20359080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9505A-0785-8400-639D-F6F2E114B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E3BA3E1E-CD7A-601F-E810-1C0BB191D64F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C0530F7-2524-4030-5915-D3FC4B30672F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C897D76-A1E7-44A9-5757-DBC2D79D29CD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169E7B1-984C-ED44-BD4C-E8395D5BE60A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ECA0976-DC15-200B-6DFC-64A89A1E0BDF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71">
            <a:extLst>
              <a:ext uri="{FF2B5EF4-FFF2-40B4-BE49-F238E27FC236}">
                <a16:creationId xmlns:a16="http://schemas.microsoft.com/office/drawing/2014/main" id="{D9B8C3CC-F55A-E43A-399D-AB6DAC32ACF3}"/>
              </a:ext>
            </a:extLst>
          </p:cNvPr>
          <p:cNvSpPr txBox="1">
            <a:spLocks/>
          </p:cNvSpPr>
          <p:nvPr/>
        </p:nvSpPr>
        <p:spPr>
          <a:xfrm>
            <a:off x="1365250" y="1105314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📌 Princípios do Lean </a:t>
            </a:r>
            <a:r>
              <a:rPr lang="pt-BR" sz="4950" b="1" kern="0" spc="-15" dirty="0" err="1">
                <a:latin typeface="Montserrat ExtraBold"/>
                <a:cs typeface="Montserrat ExtraBold"/>
              </a:rPr>
              <a:t>Development</a:t>
            </a:r>
            <a:endParaRPr lang="pt-BR" sz="4950" b="1" kern="0" spc="-15" dirty="0">
              <a:latin typeface="Montserrat ExtraBold"/>
              <a:cs typeface="Montserrat ExtraBold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8CA9A97-0C01-F4AC-4914-63199EF30A43}"/>
              </a:ext>
            </a:extLst>
          </p:cNvPr>
          <p:cNvSpPr txBox="1"/>
          <p:nvPr/>
        </p:nvSpPr>
        <p:spPr>
          <a:xfrm>
            <a:off x="1367760" y="2987675"/>
            <a:ext cx="1645464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6️⃣ Respeitar as pessoas 🙌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Equipes autônomas e auto-organizadas.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Cultura de colaboração e troca de conhecimento.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Confiança na equipe para tomar decisões.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4000" dirty="0"/>
          </a:p>
          <a:p>
            <a:r>
              <a:rPr lang="pt-BR" sz="4000" b="1" dirty="0"/>
              <a:t>7️⃣ Otimizar o todo 🔄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Pensar no sistema como um todo, não apenas nas partes.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Focar em processos eficientes do início ao fim.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Evitar otimizar apenas uma fase do projeto, prejudicando outras.</a:t>
            </a:r>
          </a:p>
        </p:txBody>
      </p:sp>
    </p:spTree>
    <p:extLst>
      <p:ext uri="{BB962C8B-B14F-4D97-AF65-F5344CB8AC3E}">
        <p14:creationId xmlns:p14="http://schemas.microsoft.com/office/powerpoint/2010/main" val="17521952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7D188-57CB-BC7B-478B-E217F2304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B2786A29-911B-4DC6-4CF7-6299431F8323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F581557-DB56-980B-D320-D7246AC13F4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CF5281A-0E0A-1FDF-EFE1-47D812DC4346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6DA8A49F-0968-120B-8D75-9ED64168F2CD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05DB4B2-9110-2BA5-4EC3-007400C3049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71">
            <a:extLst>
              <a:ext uri="{FF2B5EF4-FFF2-40B4-BE49-F238E27FC236}">
                <a16:creationId xmlns:a16="http://schemas.microsoft.com/office/drawing/2014/main" id="{14EE8857-2B2B-5709-7750-65D5EB732096}"/>
              </a:ext>
            </a:extLst>
          </p:cNvPr>
          <p:cNvSpPr txBox="1">
            <a:spLocks/>
          </p:cNvSpPr>
          <p:nvPr/>
        </p:nvSpPr>
        <p:spPr>
          <a:xfrm>
            <a:off x="1343689" y="1395795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📌 Como Funciona o Lean </a:t>
            </a:r>
            <a:r>
              <a:rPr lang="pt-BR" sz="4950" b="1" kern="0" spc="-15" dirty="0" err="1">
                <a:latin typeface="Montserrat ExtraBold"/>
                <a:cs typeface="Montserrat ExtraBold"/>
              </a:rPr>
              <a:t>Development</a:t>
            </a:r>
            <a:r>
              <a:rPr lang="pt-BR" sz="4950" b="1" kern="0" spc="-15" dirty="0">
                <a:latin typeface="Montserrat ExtraBold"/>
                <a:cs typeface="Montserrat ExtraBold"/>
              </a:rPr>
              <a:t>?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A7A210A-A3DE-C22C-5A2B-BFA8863B0DFD}"/>
              </a:ext>
            </a:extLst>
          </p:cNvPr>
          <p:cNvSpPr txBox="1"/>
          <p:nvPr/>
        </p:nvSpPr>
        <p:spPr>
          <a:xfrm>
            <a:off x="1367760" y="2987675"/>
            <a:ext cx="16454642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1️⃣ O time define </a:t>
            </a:r>
            <a:r>
              <a:rPr lang="pt-BR" sz="4000" b="1" dirty="0"/>
              <a:t>o valor real do produto</a:t>
            </a:r>
            <a:r>
              <a:rPr lang="pt-BR" sz="4000" dirty="0"/>
              <a:t> (quais funcionalidades são essenciais?).</a:t>
            </a:r>
          </a:p>
          <a:p>
            <a:br>
              <a:rPr lang="pt-BR" sz="4000" dirty="0"/>
            </a:br>
            <a:r>
              <a:rPr lang="pt-BR" sz="4000" dirty="0"/>
              <a:t>2️⃣ Evita desperdícios, focando no </a:t>
            </a:r>
            <a:r>
              <a:rPr lang="pt-BR" sz="4000" b="1" dirty="0"/>
              <a:t>mínimo produto viável (MVP)</a:t>
            </a:r>
            <a:r>
              <a:rPr lang="pt-BR" sz="4000" dirty="0"/>
              <a:t>.</a:t>
            </a:r>
          </a:p>
          <a:p>
            <a:br>
              <a:rPr lang="pt-BR" sz="4000" dirty="0"/>
            </a:br>
            <a:r>
              <a:rPr lang="pt-BR" sz="4000" dirty="0"/>
              <a:t>3️⃣ O desenvolvimento ocorre </a:t>
            </a:r>
            <a:r>
              <a:rPr lang="pt-BR" sz="4000" b="1" dirty="0"/>
              <a:t>em pequenos ciclos</a:t>
            </a:r>
            <a:r>
              <a:rPr lang="pt-BR" sz="4000" dirty="0"/>
              <a:t> com entregas frequentes.</a:t>
            </a:r>
          </a:p>
          <a:p>
            <a:br>
              <a:rPr lang="pt-BR" sz="4000" dirty="0"/>
            </a:br>
            <a:r>
              <a:rPr lang="pt-BR" sz="4000" dirty="0"/>
              <a:t>4️⃣ O cliente dá </a:t>
            </a:r>
            <a:r>
              <a:rPr lang="pt-BR" sz="4000" b="1" dirty="0"/>
              <a:t>feedback constante</a:t>
            </a:r>
            <a:r>
              <a:rPr lang="pt-BR" sz="4000" dirty="0"/>
              <a:t> e ajustes são feitos rapidamente.</a:t>
            </a:r>
          </a:p>
          <a:p>
            <a:br>
              <a:rPr lang="pt-BR" sz="4000" dirty="0"/>
            </a:br>
            <a:r>
              <a:rPr lang="pt-BR" sz="4000" dirty="0"/>
              <a:t>5️⃣ O time melhora continuamente os processos com base na experiência adquirida.</a:t>
            </a:r>
          </a:p>
        </p:txBody>
      </p:sp>
    </p:spTree>
    <p:extLst>
      <p:ext uri="{BB962C8B-B14F-4D97-AF65-F5344CB8AC3E}">
        <p14:creationId xmlns:p14="http://schemas.microsoft.com/office/powerpoint/2010/main" val="7373673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3E83E-28DB-CC23-E382-08DEC74F7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9AB6FB83-318C-9B7F-10C8-0C1CA9F57499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2060584-D57C-F82F-40C2-238EE1F7AACE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8199395-A0D6-D65A-55A1-68F9826E7C6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9EC6A05-EF29-C5F6-D101-5F3D8DF5FE0A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89154B1-E7B6-00B9-0C08-DB52A47E09AF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71">
            <a:extLst>
              <a:ext uri="{FF2B5EF4-FFF2-40B4-BE49-F238E27FC236}">
                <a16:creationId xmlns:a16="http://schemas.microsoft.com/office/drawing/2014/main" id="{E01F9810-54DF-4C62-5B08-EBD1598CDE57}"/>
              </a:ext>
            </a:extLst>
          </p:cNvPr>
          <p:cNvSpPr txBox="1">
            <a:spLocks/>
          </p:cNvSpPr>
          <p:nvPr/>
        </p:nvSpPr>
        <p:spPr>
          <a:xfrm>
            <a:off x="1343689" y="1395795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📌 Benefícios do Lean </a:t>
            </a:r>
            <a:r>
              <a:rPr lang="pt-BR" sz="4950" b="1" kern="0" spc="-15" dirty="0" err="1">
                <a:latin typeface="Montserrat ExtraBold"/>
                <a:cs typeface="Montserrat ExtraBold"/>
              </a:rPr>
              <a:t>Development</a:t>
            </a:r>
            <a:endParaRPr lang="pt-BR" sz="4950" b="1" kern="0" spc="-15" dirty="0">
              <a:latin typeface="Montserrat ExtraBold"/>
              <a:cs typeface="Montserrat ExtraBold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E5DF5D2-E31D-781F-E993-6E4EFD736089}"/>
              </a:ext>
            </a:extLst>
          </p:cNvPr>
          <p:cNvSpPr txBox="1"/>
          <p:nvPr/>
        </p:nvSpPr>
        <p:spPr>
          <a:xfrm>
            <a:off x="1367760" y="2987675"/>
            <a:ext cx="16454642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✅ </a:t>
            </a:r>
            <a:r>
              <a:rPr lang="pt-BR" sz="4000" b="1" dirty="0"/>
              <a:t>Menos desperdício</a:t>
            </a:r>
            <a:r>
              <a:rPr lang="pt-BR" sz="4000" dirty="0"/>
              <a:t> → Foco apenas no essencial.</a:t>
            </a:r>
          </a:p>
          <a:p>
            <a:br>
              <a:rPr lang="pt-BR" sz="4000" dirty="0"/>
            </a:br>
            <a:r>
              <a:rPr lang="pt-BR" sz="4000" dirty="0"/>
              <a:t>✅ </a:t>
            </a:r>
            <a:r>
              <a:rPr lang="pt-BR" sz="4000" b="1" dirty="0"/>
              <a:t>Menos retrabalho</a:t>
            </a:r>
            <a:r>
              <a:rPr lang="pt-BR" sz="4000" dirty="0"/>
              <a:t> → Evita código desnecessário e funcionalidades sem valor.</a:t>
            </a:r>
          </a:p>
          <a:p>
            <a:br>
              <a:rPr lang="pt-BR" sz="4000" dirty="0"/>
            </a:br>
            <a:r>
              <a:rPr lang="pt-BR" sz="4000" dirty="0"/>
              <a:t>✅ </a:t>
            </a:r>
            <a:r>
              <a:rPr lang="pt-BR" sz="4000" b="1" dirty="0"/>
              <a:t>Entrega rápida</a:t>
            </a:r>
            <a:r>
              <a:rPr lang="pt-BR" sz="4000" dirty="0"/>
              <a:t> → Pequenos incrementos frequentes.</a:t>
            </a:r>
          </a:p>
          <a:p>
            <a:br>
              <a:rPr lang="pt-BR" sz="4000" dirty="0"/>
            </a:br>
            <a:r>
              <a:rPr lang="pt-BR" sz="4000" dirty="0"/>
              <a:t>✅ </a:t>
            </a:r>
            <a:r>
              <a:rPr lang="pt-BR" sz="4000" b="1" dirty="0"/>
              <a:t>Maior flexibilidade</a:t>
            </a:r>
            <a:r>
              <a:rPr lang="pt-BR" sz="4000" dirty="0"/>
              <a:t> → Decisões tomadas no momento certo.</a:t>
            </a:r>
          </a:p>
          <a:p>
            <a:br>
              <a:rPr lang="pt-BR" sz="4000" dirty="0"/>
            </a:br>
            <a:r>
              <a:rPr lang="pt-BR" sz="4000" dirty="0"/>
              <a:t>✅ </a:t>
            </a:r>
            <a:r>
              <a:rPr lang="pt-BR" sz="4000" b="1" dirty="0"/>
              <a:t>Equipe mais engajada</a:t>
            </a:r>
            <a:r>
              <a:rPr lang="pt-BR" sz="4000" dirty="0"/>
              <a:t> → Valorização e autonomia dos desenvolvedores.</a:t>
            </a:r>
          </a:p>
        </p:txBody>
      </p:sp>
    </p:spTree>
    <p:extLst>
      <p:ext uri="{BB962C8B-B14F-4D97-AF65-F5344CB8AC3E}">
        <p14:creationId xmlns:p14="http://schemas.microsoft.com/office/powerpoint/2010/main" val="331626597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B66BE-0653-E6A0-26AB-023447E90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FA4AA3CF-9EC8-42D3-69D1-51280A78CA62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57A88AD-CA84-621E-2B44-BB8FD644C09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3DD7E09-24D8-5BC4-6014-6BEEE169301B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D8F86D7-2211-24E2-553B-29AB06637D98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8B29697-5BC8-EDFC-3B35-D5129B30E72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71">
            <a:extLst>
              <a:ext uri="{FF2B5EF4-FFF2-40B4-BE49-F238E27FC236}">
                <a16:creationId xmlns:a16="http://schemas.microsoft.com/office/drawing/2014/main" id="{CD54DE65-EC00-525A-4B99-C9C3D0853889}"/>
              </a:ext>
            </a:extLst>
          </p:cNvPr>
          <p:cNvSpPr txBox="1">
            <a:spLocks/>
          </p:cNvSpPr>
          <p:nvPr/>
        </p:nvSpPr>
        <p:spPr>
          <a:xfrm>
            <a:off x="1343689" y="1395795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📌 Diferença entre Lean, Scrum e XP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83A857CF-21F2-8593-B56C-25B461DB7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689" y="3110001"/>
            <a:ext cx="17539362" cy="715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5628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CE169-0244-03A0-E180-5E8DF0463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E0814FE-CC5A-223C-62D0-670EB5F61869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30FBC48-7910-D081-15DA-9D6B7BC6120A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EB5C48A-BB15-54DE-8A88-F0129223904B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05A58F6-C196-CC1B-42D9-A82D4C23D97B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D4C3E8E-0647-ABA6-C41F-E3DC69938D40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B7995DC-8044-491A-DDFC-EE38BAF6212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39471ACE-E2BF-52DA-609D-5D23BDD5FFEE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34A2676-4005-AB9D-6A3A-B9C5DD9FF5EF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1FECDBA6-D6B8-A9A3-CC63-A75928F0F447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763D9249-8E46-0619-CE96-DBF05901619E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5B4F5A2F-23C0-CB31-7DF3-638E67D268CE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AC220023-9DCC-4C0C-8149-7FDC5048C3D2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B1618201-3607-4AD2-2311-BC6AD3D552A4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117D290-036B-82FB-DC4E-790F31DCB379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349B9765-DC5C-06D4-367C-E9FC5FD87D9E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FFA4A3FA-4B8D-4977-5A72-3CEBA6A6C833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9A1A86C4-4AAB-B843-ABA4-FF889D800E9F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A6DD9CB6-469F-6215-D04F-9E8742932D6A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DD4B5768-BEFE-C9D8-D50C-AB5C5223B3A7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2E468CA4-56BA-37A0-5F0C-903FFA91EC58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EB4CF61E-0CEC-DE4D-3EB5-EBC128A1CE7A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97B454F8-5C09-299A-CCCD-FE79BE7F0C0A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52FE9206-20BD-6317-231D-6549EB365794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FEADF822-E3F9-25F7-3481-2556F541416A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E78B0AAA-CECB-6B04-100E-D6F84600EFF7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2D733C8F-F0A3-CEC5-CC37-FC1377547B72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F561AE32-6704-764D-185D-00AB51B936DD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A1B30187-A875-0688-D117-A3986CC4C90B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B2515AD9-C24D-EDFA-34CA-1D27F140D0B0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3CDBF6C7-3B0F-E589-891E-3A5F6258B1AF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384680C0-68A2-3AB4-EC1E-ABBDB6D063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sp>
        <p:nvSpPr>
          <p:cNvPr id="32" name="object 71">
            <a:extLst>
              <a:ext uri="{FF2B5EF4-FFF2-40B4-BE49-F238E27FC236}">
                <a16:creationId xmlns:a16="http://schemas.microsoft.com/office/drawing/2014/main" id="{95143CF8-195F-C5A5-17A9-D28D755B9B55}"/>
              </a:ext>
            </a:extLst>
          </p:cNvPr>
          <p:cNvSpPr txBox="1">
            <a:spLocks/>
          </p:cNvSpPr>
          <p:nvPr/>
        </p:nvSpPr>
        <p:spPr>
          <a:xfrm>
            <a:off x="1343689" y="1395795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chemeClr val="bg1">
                    <a:lumMod val="85000"/>
                  </a:schemeClr>
                </a:solidFill>
                <a:latin typeface="Montserrat ExtraBold"/>
                <a:cs typeface="Montserrat ExtraBold"/>
              </a:rPr>
              <a:t>📌Atividade de Projetos de Software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74EA2B1A-02EA-8E19-3752-55E5C7C33C4A}"/>
              </a:ext>
            </a:extLst>
          </p:cNvPr>
          <p:cNvSpPr txBox="1"/>
          <p:nvPr/>
        </p:nvSpPr>
        <p:spPr>
          <a:xfrm>
            <a:off x="1367760" y="2987675"/>
            <a:ext cx="16454642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chemeClr val="bg1">
                    <a:lumMod val="85000"/>
                  </a:schemeClr>
                </a:solidFill>
              </a:rPr>
              <a:t>Selecionar uma metodologia ágil para o desenvolvimento do seu projeto e estruturar a equipe com os papéis necessários para aplicá-la de forma eficaz.</a:t>
            </a:r>
          </a:p>
          <a:p>
            <a:endParaRPr lang="pt-BR" sz="40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pt-BR" sz="4000" b="1" dirty="0">
                <a:solidFill>
                  <a:schemeClr val="bg1">
                    <a:lumMod val="85000"/>
                  </a:schemeClr>
                </a:solidFill>
              </a:rPr>
              <a:t>Instruções:</a:t>
            </a:r>
          </a:p>
          <a:p>
            <a:endParaRPr lang="pt-BR" sz="4000" dirty="0">
              <a:solidFill>
                <a:schemeClr val="bg1">
                  <a:lumMod val="85000"/>
                </a:schemeClr>
              </a:solidFill>
            </a:endParaRPr>
          </a:p>
          <a:p>
            <a:pPr marL="742950" indent="-742950">
              <a:buAutoNum type="arabicPeriod"/>
            </a:pPr>
            <a:r>
              <a:rPr lang="pt-BR" sz="4000" b="1" dirty="0">
                <a:solidFill>
                  <a:schemeClr val="bg1">
                    <a:lumMod val="85000"/>
                  </a:schemeClr>
                </a:solidFill>
              </a:rPr>
              <a:t>Escolha da Metodologia:</a:t>
            </a:r>
          </a:p>
          <a:p>
            <a:pPr marL="742950" indent="-742950">
              <a:buAutoNum type="arabicPeriod"/>
            </a:pPr>
            <a:endParaRPr lang="pt-BR" sz="4000" b="1" dirty="0">
              <a:solidFill>
                <a:schemeClr val="bg1">
                  <a:lumMod val="85000"/>
                </a:schemeClr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chemeClr val="bg1">
                    <a:lumMod val="85000"/>
                  </a:schemeClr>
                </a:solidFill>
              </a:rPr>
              <a:t>Pesquise e escolha uma das metodologias ágeis estudadas: Scrum, </a:t>
            </a:r>
            <a:r>
              <a:rPr lang="pt-BR" sz="4000" dirty="0" err="1">
                <a:solidFill>
                  <a:schemeClr val="bg1">
                    <a:lumMod val="85000"/>
                  </a:schemeClr>
                </a:solidFill>
              </a:rPr>
              <a:t>Kanban</a:t>
            </a:r>
            <a:r>
              <a:rPr lang="pt-BR" sz="4000" dirty="0">
                <a:solidFill>
                  <a:schemeClr val="bg1">
                    <a:lumMod val="85000"/>
                  </a:schemeClr>
                </a:solidFill>
              </a:rPr>
              <a:t>, Extreme </a:t>
            </a:r>
            <a:r>
              <a:rPr lang="pt-BR" sz="4000" dirty="0" err="1">
                <a:solidFill>
                  <a:schemeClr val="bg1">
                    <a:lumMod val="85000"/>
                  </a:schemeClr>
                </a:solidFill>
              </a:rPr>
              <a:t>Programming</a:t>
            </a:r>
            <a:r>
              <a:rPr lang="pt-BR" sz="4000" dirty="0">
                <a:solidFill>
                  <a:schemeClr val="bg1">
                    <a:lumMod val="85000"/>
                  </a:schemeClr>
                </a:solidFill>
              </a:rPr>
              <a:t> (XP) ou Lean </a:t>
            </a:r>
            <a:r>
              <a:rPr lang="pt-BR" sz="4000" dirty="0" err="1">
                <a:solidFill>
                  <a:schemeClr val="bg1">
                    <a:lumMod val="85000"/>
                  </a:schemeClr>
                </a:solidFill>
              </a:rPr>
              <a:t>Development</a:t>
            </a:r>
            <a:r>
              <a:rPr lang="pt-BR" sz="4000" dirty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>
              <a:solidFill>
                <a:schemeClr val="bg1">
                  <a:lumMod val="85000"/>
                </a:schemeClr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chemeClr val="bg1">
                    <a:lumMod val="85000"/>
                  </a:schemeClr>
                </a:solidFill>
              </a:rPr>
              <a:t>Justifique a escolha explicando como essa metodologia se encaixa no projeto que sua equipe desenvolverá.</a:t>
            </a:r>
          </a:p>
        </p:txBody>
      </p:sp>
    </p:spTree>
    <p:extLst>
      <p:ext uri="{BB962C8B-B14F-4D97-AF65-F5344CB8AC3E}">
        <p14:creationId xmlns:p14="http://schemas.microsoft.com/office/powerpoint/2010/main" val="42006423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4CB5D-358A-B9DD-BE02-0C3C2DADD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9DD3548-AF7C-B368-D119-7CFB3F4343DC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D8BBD0D-FE5B-E96C-0EE1-AD7C2D77AA64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75BD9FB-47F3-64A2-ADF6-E95D0D2DEDD5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109C65C-0795-DCEE-68AD-6538C633C76A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63A853DB-B6EB-CD99-0104-B383845FCB59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13AEA7C-9D54-57D4-34F8-11C8E2BF9403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E451BFD3-9F0C-5ED8-85DF-9FEE9FDE6193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6BF4167-1CD6-3DD9-1CB0-1480CA1E9318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6EAF5E71-CEE7-A0B3-8E03-E05B0D72AD7E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9C9F8839-64C8-3357-56BA-E50EE42718A7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E47FC0FC-F628-F936-AF80-FB5AD8CD491D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9FE5FC79-D3F1-E49E-9F0F-F2CC3A791707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725FA882-DF6C-A640-9391-0268CC1B408D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5589FD8-A495-DB96-687D-822FD6AF5C68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0764CD0E-A784-CBDD-0F87-827B2FE433F2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762DF0BC-C3C9-0960-2A8A-91B2A763D576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C56A8F0E-8F26-A928-B679-EE5E01D06E4B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7F402AB8-BBAA-4171-1C6F-9E6C523D0206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AB22FD1E-6610-5D01-F43D-9CCBE9D5D9C9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45B5FC3A-C0BD-7994-16B8-7A8B985D55A4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48E17F7F-15A1-1502-5D4B-9CEBE74240E8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EAC1FDA1-2FF1-5DC1-D7E5-F58344DC5861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3AD3C6F5-F182-DA06-F65F-576DC9C9BC9E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D1771873-6EFC-B924-0B0F-2C274485CB8E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DF02C9A3-171A-4490-7D12-CC48AE9CA01A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FE0E74E0-C7D4-8FF6-0E30-E28A80B31F55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BCC876DD-D8F4-F6C5-7E21-A093DD7FA35D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BA70044B-2A0B-02DF-B73C-999B176D3CA8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170063C1-ECA5-CB37-9467-B0EE2960A305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2FCF0F12-751F-28CA-E001-2422C1617773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7C754D85-A032-234A-FF15-EFA58FD295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sp>
        <p:nvSpPr>
          <p:cNvPr id="32" name="object 71">
            <a:extLst>
              <a:ext uri="{FF2B5EF4-FFF2-40B4-BE49-F238E27FC236}">
                <a16:creationId xmlns:a16="http://schemas.microsoft.com/office/drawing/2014/main" id="{C64F80E9-5F8C-66D5-340D-846F3D43C460}"/>
              </a:ext>
            </a:extLst>
          </p:cNvPr>
          <p:cNvSpPr txBox="1">
            <a:spLocks/>
          </p:cNvSpPr>
          <p:nvPr/>
        </p:nvSpPr>
        <p:spPr>
          <a:xfrm>
            <a:off x="1343689" y="1395795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chemeClr val="bg1">
                    <a:lumMod val="85000"/>
                  </a:schemeClr>
                </a:solidFill>
                <a:latin typeface="Montserrat ExtraBold"/>
                <a:cs typeface="Montserrat ExtraBold"/>
              </a:rPr>
              <a:t>📌Atividade de Projetos de Software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5935DCCA-B1C6-E0E2-6307-45FEC95057B3}"/>
              </a:ext>
            </a:extLst>
          </p:cNvPr>
          <p:cNvSpPr txBox="1"/>
          <p:nvPr/>
        </p:nvSpPr>
        <p:spPr>
          <a:xfrm>
            <a:off x="1367760" y="2987675"/>
            <a:ext cx="1645464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bg1">
                    <a:lumMod val="85000"/>
                  </a:schemeClr>
                </a:solidFill>
              </a:rPr>
              <a:t>2.	Definição do Projeto:</a:t>
            </a:r>
          </a:p>
          <a:p>
            <a:endParaRPr lang="pt-BR" sz="4000" dirty="0">
              <a:solidFill>
                <a:schemeClr val="bg1">
                  <a:lumMod val="85000"/>
                </a:schemeClr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chemeClr val="bg1">
                    <a:lumMod val="85000"/>
                  </a:schemeClr>
                </a:solidFill>
              </a:rPr>
              <a:t>Determine um software a ser desenvolvido (exemplo: aplicativo de delivery, plataforma de ensino online, sistema de gestão empresarial, etc.).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>
              <a:solidFill>
                <a:schemeClr val="bg1">
                  <a:lumMod val="85000"/>
                </a:schemeClr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chemeClr val="bg1">
                    <a:lumMod val="85000"/>
                  </a:schemeClr>
                </a:solidFill>
              </a:rPr>
              <a:t>Descreva brevemente o propósito do software e seus principais objetivos.</a:t>
            </a:r>
          </a:p>
        </p:txBody>
      </p:sp>
      <p:sp>
        <p:nvSpPr>
          <p:cNvPr id="34" name="Rectangle 1">
            <a:extLst>
              <a:ext uri="{FF2B5EF4-FFF2-40B4-BE49-F238E27FC236}">
                <a16:creationId xmlns:a16="http://schemas.microsoft.com/office/drawing/2014/main" id="{E5E23B5D-6FC2-08B4-3962-A6EEEF34E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01041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Definição do Projeto:</a:t>
            </a: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Determine um software a ser desenvolvido (exemplo: aplicativo de delivery, plataforma de ensino online, sistema de gestão empresarial,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Descreva brevemente o propósito do software e seus principais objetivos.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7558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860F4-D69B-6B53-4F7B-46ECE8D80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A42D4DA-E862-629A-2215-344B7982D8F2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F1D5D71-39A6-8E12-5839-05560BA979A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17BBC96-DDC2-FE27-FDC6-C41C3DF4DB2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07656BA-E563-30EC-A434-99187D71A52C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16372AF-2095-24B5-11FB-0F860CEAF80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A7251A1-0EB6-9A64-2015-BBCBCBDB956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B7FCCF6-8F3A-C7E0-7D3B-957A8C707971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F6B29F1-A27F-7C0D-18BA-BF156441B23A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0FE624E2-4CBF-60DD-7BD8-5E36DC66FF20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F3D53E5F-B027-FDFD-14F3-50F958A21FAC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BD67FE9C-A2F2-93A9-910F-C2C8EFCA7191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0AF98656-C2EE-E2EA-EBB8-1E9509F67A46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4FB4D4C5-E87F-76AF-6087-0CA958EB7AFA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ACD51FF-4356-A0C4-A09E-631FA4EDCA9A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8C992663-EBD6-784C-E9E0-24703F42CA6C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21DBD8D4-F5B3-DD4F-FBA5-20D10BB830F5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7FC1A945-9B03-9D52-0369-5E45B3B6EDE2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BD0299E8-9A40-EC5E-11F6-D00377CAAF87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0E60E11F-A373-6EF5-FADE-DCA734C8C006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A9D462C0-1920-1325-ADB0-EC0DEC97DC60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2E5C0AD8-857B-1BB2-98A3-70159858BF77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BFCB6914-8C7B-3006-0449-94903F8CAD0F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CA907817-9D07-E37C-0900-7A2E52C3F622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165078A7-55DA-79D0-C72F-E392C99F6630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D932B844-5915-4E85-7E2C-D7BCCAE41584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5A7088E1-2D13-F136-675C-C587BEC23210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9769967E-292B-2A1D-D3CE-0CCEF9EFBD25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3BD9CAD1-A596-32B9-7F1B-2BDBB2AE6B23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AAFE3E31-A18B-2008-3098-079FCEF1FF7B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7E968954-D896-7502-F37E-E58FBAF93FF2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494276C2-6749-187E-B4EA-5406EA10C4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sp>
        <p:nvSpPr>
          <p:cNvPr id="32" name="object 71">
            <a:extLst>
              <a:ext uri="{FF2B5EF4-FFF2-40B4-BE49-F238E27FC236}">
                <a16:creationId xmlns:a16="http://schemas.microsoft.com/office/drawing/2014/main" id="{E9912FDA-5990-26C8-4324-FC834BD88AB3}"/>
              </a:ext>
            </a:extLst>
          </p:cNvPr>
          <p:cNvSpPr txBox="1">
            <a:spLocks/>
          </p:cNvSpPr>
          <p:nvPr/>
        </p:nvSpPr>
        <p:spPr>
          <a:xfrm>
            <a:off x="1343689" y="1395795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chemeClr val="bg1">
                    <a:lumMod val="85000"/>
                  </a:schemeClr>
                </a:solidFill>
                <a:latin typeface="Montserrat ExtraBold"/>
                <a:cs typeface="Montserrat ExtraBold"/>
              </a:rPr>
              <a:t>📌Atividade de Projetos de Software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06CDDB81-C726-4038-FD05-D8588FFB5CE8}"/>
              </a:ext>
            </a:extLst>
          </p:cNvPr>
          <p:cNvSpPr txBox="1"/>
          <p:nvPr/>
        </p:nvSpPr>
        <p:spPr>
          <a:xfrm>
            <a:off x="1367760" y="2987675"/>
            <a:ext cx="16454642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bg1">
                    <a:lumMod val="85000"/>
                  </a:schemeClr>
                </a:solidFill>
              </a:rPr>
              <a:t>3.	Montagem da Equipe:</a:t>
            </a:r>
          </a:p>
          <a:p>
            <a:endParaRPr lang="pt-BR" sz="4000" b="1" dirty="0">
              <a:solidFill>
                <a:schemeClr val="bg1">
                  <a:lumMod val="85000"/>
                </a:schemeClr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chemeClr val="bg1">
                    <a:lumMod val="85000"/>
                  </a:schemeClr>
                </a:solidFill>
              </a:rPr>
              <a:t>Com base na metodologia escolhida, defina os papéis essenciais na equipe de desenvolvimento.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>
              <a:solidFill>
                <a:schemeClr val="bg1">
                  <a:lumMod val="85000"/>
                </a:schemeClr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chemeClr val="bg1">
                    <a:lumMod val="85000"/>
                  </a:schemeClr>
                </a:solidFill>
              </a:rPr>
              <a:t>Distribua as funções entre os membros (por exemplo: </a:t>
            </a:r>
            <a:r>
              <a:rPr lang="pt-BR" sz="4000" dirty="0" err="1">
                <a:solidFill>
                  <a:schemeClr val="bg1">
                    <a:lumMod val="85000"/>
                  </a:schemeClr>
                </a:solidFill>
              </a:rPr>
              <a:t>Product</a:t>
            </a:r>
            <a:r>
              <a:rPr lang="pt-BR" sz="4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pt-BR" sz="4000" dirty="0" err="1">
                <a:solidFill>
                  <a:schemeClr val="bg1">
                    <a:lumMod val="85000"/>
                  </a:schemeClr>
                </a:solidFill>
              </a:rPr>
              <a:t>Owner</a:t>
            </a:r>
            <a:r>
              <a:rPr lang="pt-BR" sz="4000" dirty="0">
                <a:solidFill>
                  <a:schemeClr val="bg1">
                    <a:lumMod val="85000"/>
                  </a:schemeClr>
                </a:solidFill>
              </a:rPr>
              <a:t>, Scrum Master, Desenvolvedores, Testadores, Designers, etc.).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>
              <a:solidFill>
                <a:schemeClr val="bg1">
                  <a:lumMod val="85000"/>
                </a:schemeClr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chemeClr val="bg1">
                    <a:lumMod val="85000"/>
                  </a:schemeClr>
                </a:solidFill>
              </a:rPr>
              <a:t>Explique a função de cada papel dentro do time e como contribuirá para o sucesso do projeto.</a:t>
            </a:r>
          </a:p>
          <a:p>
            <a:endParaRPr lang="pt-BR" sz="40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4" name="Rectangle 1">
            <a:extLst>
              <a:ext uri="{FF2B5EF4-FFF2-40B4-BE49-F238E27FC236}">
                <a16:creationId xmlns:a16="http://schemas.microsoft.com/office/drawing/2014/main" id="{EB144F37-1BA0-16A3-72B4-78BA02ED9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01041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Definição do Projeto:</a:t>
            </a: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Determine um software a ser desenvolvido (exemplo: aplicativo de delivery, plataforma de ensino online, sistema de gestão empresarial,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Descreva brevemente o propósito do software e seus principais objetivos.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11841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204E6-1556-9AAB-2E69-547FAD543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9A2F6EA-5802-A279-AF7A-F08D25718B4F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CE1FEC0-BF37-74E4-BD25-52DB9D9114D2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90E9A68-677A-48C6-DC4B-676A58B0B53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B7B5F6A-EFFA-894D-7D7C-58D7DA0B35CA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1C78881-7867-20E0-5365-8B999A2D4A2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19EAB90-C48C-5A7E-6188-1FB11CA45A53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8E13BE94-BA8C-CDBE-38FA-F7CB2B680258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51FD4B56-4564-BC57-CD20-9E558B68D340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450CC9E4-294B-5180-9FC5-2905EE39D700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53285036-1378-3826-21F2-69A7DFC2D9EF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6D5BF77D-FB44-594E-F686-69F3DE47AB88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957DDAEA-F9DD-D6E8-9E46-1E2C10DF2F99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D1C82984-61EA-63C0-97CD-2934889FC4D5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DF75941-B9E4-213C-7E54-755315A9EF13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AF1470E1-05DB-7C68-03BB-4D59DB7DF108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E6890A0F-7F5A-6052-3DEE-BFC550DA6002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D6BD199F-2A9A-85A4-324C-CB83995DBB78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97212239-F001-A899-C868-5329EB4B9D12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70A23FC9-6454-8743-2A12-26A488AB933A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F7376E96-A402-76EF-A306-3FB8CA1CA71E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F351D5DD-6BF9-D024-1CD9-72B75987950D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26DCDA79-23AD-F2CE-904D-9D5FD78F9817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CA09FE6F-CCB8-77DB-DDDC-79D53D552BF8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38F58197-1BD4-531C-CB34-6BE123D2B036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85410AFF-7993-ABDC-745B-08554D47DE42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F614C0B9-BBC5-18B5-3937-077E69E57899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5B7C8398-8898-47DD-C83B-1A89086BD215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31EDDD0F-73D7-6167-0263-6199835D0C69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A389F893-D93F-8E0D-26C7-F1209213C28E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AD797ECE-12C6-3090-6AEA-391018462B56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2D1BCC2A-E192-DF2D-B7C4-C50298F004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sp>
        <p:nvSpPr>
          <p:cNvPr id="32" name="object 71">
            <a:extLst>
              <a:ext uri="{FF2B5EF4-FFF2-40B4-BE49-F238E27FC236}">
                <a16:creationId xmlns:a16="http://schemas.microsoft.com/office/drawing/2014/main" id="{5D683640-3D8F-C968-A410-B50ED1B30FB3}"/>
              </a:ext>
            </a:extLst>
          </p:cNvPr>
          <p:cNvSpPr txBox="1">
            <a:spLocks/>
          </p:cNvSpPr>
          <p:nvPr/>
        </p:nvSpPr>
        <p:spPr>
          <a:xfrm>
            <a:off x="1343689" y="1395795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chemeClr val="bg1">
                    <a:lumMod val="85000"/>
                  </a:schemeClr>
                </a:solidFill>
                <a:latin typeface="Montserrat ExtraBold"/>
                <a:cs typeface="Montserrat ExtraBold"/>
              </a:rPr>
              <a:t>📌Atividade de Projetos de Software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31FADD7F-4909-0E13-2C5B-9E272F08B1E3}"/>
              </a:ext>
            </a:extLst>
          </p:cNvPr>
          <p:cNvSpPr txBox="1"/>
          <p:nvPr/>
        </p:nvSpPr>
        <p:spPr>
          <a:xfrm>
            <a:off x="1367760" y="2987675"/>
            <a:ext cx="16454642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bg1">
                    <a:lumMod val="85000"/>
                  </a:schemeClr>
                </a:solidFill>
              </a:rPr>
              <a:t>4.	Elaboração do Planejamento Inicial:</a:t>
            </a:r>
          </a:p>
          <a:p>
            <a:endParaRPr lang="pt-BR" sz="4000" b="1" dirty="0">
              <a:solidFill>
                <a:schemeClr val="bg1">
                  <a:lumMod val="85000"/>
                </a:schemeClr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chemeClr val="bg1">
                    <a:lumMod val="85000"/>
                  </a:schemeClr>
                </a:solidFill>
              </a:rPr>
              <a:t>Crie um cronograma ou </a:t>
            </a:r>
            <a:r>
              <a:rPr lang="pt-BR" sz="4000" dirty="0" err="1">
                <a:solidFill>
                  <a:schemeClr val="bg1">
                    <a:lumMod val="85000"/>
                  </a:schemeClr>
                </a:solidFill>
              </a:rPr>
              <a:t>roadmap</a:t>
            </a:r>
            <a:r>
              <a:rPr lang="pt-BR" sz="4000" dirty="0">
                <a:solidFill>
                  <a:schemeClr val="bg1">
                    <a:lumMod val="85000"/>
                  </a:schemeClr>
                </a:solidFill>
              </a:rPr>
              <a:t> inicial baseado na metodologia escolhida.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>
              <a:solidFill>
                <a:schemeClr val="bg1">
                  <a:lumMod val="85000"/>
                </a:schemeClr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chemeClr val="bg1">
                    <a:lumMod val="85000"/>
                  </a:schemeClr>
                </a:solidFill>
              </a:rPr>
              <a:t>Indique como serão feitas as entregas e revisões do software ao longo do desenvolvimento.</a:t>
            </a:r>
          </a:p>
          <a:p>
            <a:endParaRPr lang="pt-BR" sz="4000" b="1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pt-BR" sz="4000" b="1" dirty="0">
                <a:solidFill>
                  <a:schemeClr val="bg1">
                    <a:lumMod val="85000"/>
                  </a:schemeClr>
                </a:solidFill>
              </a:rPr>
              <a:t>5.	Apresentação da Atividade:</a:t>
            </a:r>
          </a:p>
          <a:p>
            <a:endParaRPr lang="pt-BR" sz="4000" b="1" dirty="0">
              <a:solidFill>
                <a:schemeClr val="bg1">
                  <a:lumMod val="85000"/>
                </a:schemeClr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chemeClr val="bg1">
                    <a:lumMod val="85000"/>
                  </a:schemeClr>
                </a:solidFill>
              </a:rPr>
              <a:t>Cada grupo deverá preparar um pequeno documento ou apresentação explicando suas escolhas e como irão aplicar a metodologia escolhida na prática.</a:t>
            </a:r>
          </a:p>
        </p:txBody>
      </p:sp>
      <p:sp>
        <p:nvSpPr>
          <p:cNvPr id="34" name="Rectangle 1">
            <a:extLst>
              <a:ext uri="{FF2B5EF4-FFF2-40B4-BE49-F238E27FC236}">
                <a16:creationId xmlns:a16="http://schemas.microsoft.com/office/drawing/2014/main" id="{B1FC1854-83AE-B510-0E44-C64434BD3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01041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Definição do Projeto:</a:t>
            </a: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Determine um software a ser desenvolvido (exemplo: aplicativo de delivery, plataforma de ensino online, sistema de gestão empresarial,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Descreva brevemente o propósito do software e seus principais objetivos.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77128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32C79-876F-8BCA-8D12-D4F2BB551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36EDED2-0AD8-D73E-BC33-370CE9C79306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39B7059-B4B7-9ECD-2145-F7DFA1EA78A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ABEB08A-CD28-43C9-F728-778EA0AABA7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10737E5-88E5-8F78-242C-022CD77A1A1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F994BF1-8081-4507-FD5B-0E9BB55D8CB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9E71D00-A664-C3A1-DA05-4B69D011180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9EFEC6E-DDF2-7E10-1169-9F07853EAE6B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719C9A4-E42E-69F2-D740-79E7D7ADBD8A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A164F6C-03AF-82A0-4C7B-26442C3A01F4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CD9D6A4D-9ED2-966D-3FD1-B1B805747483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69F371D6-36D1-3827-583E-CBD46FEDFB93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52F8A60A-F880-F79B-755A-EB3916E6E3EA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E9F4AF6B-F234-2BEF-E2B2-B5F70D04D28C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9042008-CE9E-E81A-36F6-BDC7772B6152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4688A5F-9ED1-9D6D-21F4-25FFDFC9B303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366C110C-C67B-CFE0-EC27-6CCED0C9DD96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6A8FB3BC-B7E2-5B39-1DA2-C46B7ED68467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9B0EEDBD-B5DD-BAA2-8D78-6036AA1F45A6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49087C3B-E86B-C77E-2FF5-036BBB0BCF78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FAEF9E9A-09D0-1C78-9449-DFB0E474D1DC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6254855F-55DD-DB07-69CC-56914308DBB2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5567B985-9066-3F15-080A-9147D2EE62D6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A399721C-0FD9-EF7D-A065-A2B7003B775A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61DA38DD-6CE2-DE52-ED39-B8F197E5464B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841B397A-B5A8-7F96-A82A-3933C02F6CA2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E6EF9F64-01FD-1D6C-90DA-D0703DEB01C1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78D5B3B6-92A0-14F5-CD14-58213C224CC1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D0C933A4-FBDB-BBEA-952C-F431EC0685BE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1E30F71D-003E-8A31-2CAC-C1B290C3B8BA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110D9E37-6F63-5769-0ADC-03A5570B1F19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FCD99148-6146-CDF9-7BCD-118E4B0681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</a:rPr>
              <a:t>Dúvidas?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10242" name="Picture 2" descr="Pulp Fiction Travolta GIFs - Find &amp; Share on GIPHY">
            <a:extLst>
              <a:ext uri="{FF2B5EF4-FFF2-40B4-BE49-F238E27FC236}">
                <a16:creationId xmlns:a16="http://schemas.microsoft.com/office/drawing/2014/main" id="{0F93ECCB-FC30-C590-CEF8-40F96FEBA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396" y="3766122"/>
            <a:ext cx="11513308" cy="5756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6668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0D1E2450D2CCF4B94B30D13213EC305" ma:contentTypeVersion="14" ma:contentTypeDescription="Crie um novo documento." ma:contentTypeScope="" ma:versionID="80af2ae99a390bb8f99db6a6f71dbd11">
  <xsd:schema xmlns:xsd="http://www.w3.org/2001/XMLSchema" xmlns:xs="http://www.w3.org/2001/XMLSchema" xmlns:p="http://schemas.microsoft.com/office/2006/metadata/properties" xmlns:ns3="e2750cde-43d6-4eda-a582-fdf0d091b109" xmlns:ns4="b37a9e9f-dabd-4ec4-96f1-5ea18684f50e" targetNamespace="http://schemas.microsoft.com/office/2006/metadata/properties" ma:root="true" ma:fieldsID="2dc6d4c45140fd29241634ff7e109878" ns3:_="" ns4:_="">
    <xsd:import namespace="e2750cde-43d6-4eda-a582-fdf0d091b109"/>
    <xsd:import namespace="b37a9e9f-dabd-4ec4-96f1-5ea18684f50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750cde-43d6-4eda-a582-fdf0d091b1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7a9e9f-dabd-4ec4-96f1-5ea18684f50e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169B78-FDA6-4A96-82D9-CDF50108CD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750cde-43d6-4eda-a582-fdf0d091b109"/>
    <ds:schemaRef ds:uri="b37a9e9f-dabd-4ec4-96f1-5ea18684f5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A42D19-56A1-4D0B-AB84-67451006DC5A}">
  <ds:schemaRefs>
    <ds:schemaRef ds:uri="http://purl.org/dc/elements/1.1/"/>
    <ds:schemaRef ds:uri="http://schemas.microsoft.com/office/2006/metadata/properties"/>
    <ds:schemaRef ds:uri="b37a9e9f-dabd-4ec4-96f1-5ea18684f50e"/>
    <ds:schemaRef ds:uri="http://purl.org/dc/terms/"/>
    <ds:schemaRef ds:uri="http://schemas.openxmlformats.org/package/2006/metadata/core-properties"/>
    <ds:schemaRef ds:uri="e2750cde-43d6-4eda-a582-fdf0d091b109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5F35E67-04E6-4922-B19E-6681FBF95DE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148a6de-0dd1-4d04-a4c5-78e374e4f6d6}" enabled="0" method="" siteId="{4148a6de-0dd1-4d04-a4c5-78e374e4f6d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3855</TotalTime>
  <Words>13021</Words>
  <Application>Microsoft Office PowerPoint</Application>
  <PresentationFormat>Personalizar</PresentationFormat>
  <Paragraphs>611</Paragraphs>
  <Slides>60</Slides>
  <Notes>59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60</vt:i4>
      </vt:variant>
    </vt:vector>
  </HeadingPairs>
  <TitlesOfParts>
    <vt:vector size="68" baseType="lpstr">
      <vt:lpstr>游ゴシック</vt:lpstr>
      <vt:lpstr>Montserrat Light</vt:lpstr>
      <vt:lpstr>Montserrat ExtraBold</vt:lpstr>
      <vt:lpstr>Montserrat</vt:lpstr>
      <vt:lpstr>Calibri</vt:lpstr>
      <vt:lpstr>Arial</vt:lpstr>
      <vt:lpstr>-apple-system</vt:lpstr>
      <vt:lpstr>Office Theme</vt:lpstr>
      <vt:lpstr>Apresentação do PowerPoint</vt:lpstr>
      <vt:lpstr>Metodologias ágeis </vt:lpstr>
      <vt:lpstr>Modelo Cascata (WaterFall)</vt:lpstr>
      <vt:lpstr>Como Funciona o Modelo Cascata?</vt:lpstr>
      <vt:lpstr>Como Funciona o Modelo Cascata?</vt:lpstr>
      <vt:lpstr>Como Funciona o Modelo Cascata?</vt:lpstr>
      <vt:lpstr>Características do modelo Cascata</vt:lpstr>
      <vt:lpstr>Por Que o Modelo Cascata Foi Substituído?</vt:lpstr>
      <vt:lpstr>Apresentação do PowerPoint</vt:lpstr>
      <vt:lpstr>Manifesto ágil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 </vt:lpstr>
      <vt:lpstr> </vt:lpstr>
      <vt:lpstr> </vt:lpstr>
      <vt:lpstr> </vt:lpstr>
      <vt:lpstr>Dúvidas?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template_ppt_senaisp</dc:title>
  <dc:creator>carlos</dc:creator>
  <cp:lastModifiedBy>Luis Fernando Spoljaric</cp:lastModifiedBy>
  <cp:revision>535</cp:revision>
  <cp:lastPrinted>2025-02-13T13:17:19Z</cp:lastPrinted>
  <dcterms:created xsi:type="dcterms:W3CDTF">2021-08-24T16:20:14Z</dcterms:created>
  <dcterms:modified xsi:type="dcterms:W3CDTF">2025-02-25T11:26:05Z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2021-08-24T00:00:00Z</vt:filetime>
  </property>
  <property fmtid="{D5CDD505-2E9C-101B-9397-08002B2CF9AE}" pid="3" name="Creator">
    <vt:lpwstr>Adobe Illustrator 25.2 (Windows)</vt:lpwstr>
  </property>
  <property fmtid="{D5CDD505-2E9C-101B-9397-08002B2CF9AE}" pid="4" name="LastSaved">
    <vt:filetime>2021-08-24T00:00:00Z</vt:filetime>
  </property>
  <property fmtid="{D5CDD505-2E9C-101B-9397-08002B2CF9AE}" pid="5" name="ContentTypeId">
    <vt:lpwstr>0x010100A0D1E2450D2CCF4B94B30D13213EC305</vt:lpwstr>
  </property>
</Properties>
</file>